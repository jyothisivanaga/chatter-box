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rimson Pro Bold" charset="1" panose="00000000000000000000"/>
      <p:regular r:id="rId19"/>
    </p:embeddedFont>
    <p:embeddedFont>
      <p:font typeface="Open Sans" charset="1" panose="00000000000000000000"/>
      <p:regular r:id="rId20"/>
    </p:embeddedFont>
    <p:embeddedFont>
      <p:font typeface="Open Sans Bold" charset="1" panose="000000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fonts/font26.fntdata" Type="http://schemas.openxmlformats.org/officeDocument/2006/relationships/font"/><Relationship Id="rId27" Target="notesSlides/notesSlide7.xml" Type="http://schemas.openxmlformats.org/officeDocument/2006/relationships/notesSlide"/><Relationship Id="rId28" Target="notesSlides/notesSlide8.xml" Type="http://schemas.openxmlformats.org/officeDocument/2006/relationships/notesSlide"/><Relationship Id="rId29" Target="notesSlides/notesSlide9.xml" Type="http://schemas.openxmlformats.org/officeDocument/2006/relationships/notesSlide"/><Relationship Id="rId3" Target="viewProps.xml" Type="http://schemas.openxmlformats.org/officeDocument/2006/relationships/viewProps"/><Relationship Id="rId30"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5.png" Type="http://schemas.openxmlformats.org/officeDocument/2006/relationships/image"/><Relationship Id="rId13" Target="../media/image26.svg" Type="http://schemas.openxmlformats.org/officeDocument/2006/relationships/image"/><Relationship Id="rId2" Target="../notesSlides/notesSlide8.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svg" Type="http://schemas.openxmlformats.org/officeDocument/2006/relationships/image"/><Relationship Id="rId2" Target="../notesSlides/notesSlide9.xml" Type="http://schemas.openxmlformats.org/officeDocument/2006/relationships/notesSlid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31.png" Type="http://schemas.openxmlformats.org/officeDocument/2006/relationships/image"/><Relationship Id="rId8" Target="../media/image32.svg" Type="http://schemas.openxmlformats.org/officeDocument/2006/relationships/image"/><Relationship Id="rId9" Target="../media/image3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3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EDE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CFA"/>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992238" y="3418884"/>
            <a:ext cx="9445523" cy="1578769"/>
          </a:xfrm>
          <a:prstGeom prst="rect">
            <a:avLst/>
          </a:prstGeom>
        </p:spPr>
        <p:txBody>
          <a:bodyPr anchor="t" rtlCol="false" tIns="0" lIns="0" bIns="0" rIns="0">
            <a:spAutoFit/>
          </a:bodyPr>
          <a:lstStyle/>
          <a:p>
            <a:pPr algn="l">
              <a:lnSpc>
                <a:spcPts val="6062"/>
              </a:lnSpc>
            </a:pPr>
            <a:r>
              <a:rPr lang="en-US" sz="4875" b="true">
                <a:solidFill>
                  <a:srgbClr val="443728"/>
                </a:solidFill>
                <a:latin typeface="Crimson Pro Bold"/>
                <a:ea typeface="Crimson Pro Bold"/>
                <a:cs typeface="Crimson Pro Bold"/>
                <a:sym typeface="Crimson Pro Bold"/>
              </a:rPr>
              <a:t>Real-Time Chat Application using FastAPI and WebSockets</a:t>
            </a:r>
          </a:p>
        </p:txBody>
      </p:sp>
      <p:sp>
        <p:nvSpPr>
          <p:cNvPr name="TextBox 11" id="11"/>
          <p:cNvSpPr txBox="true"/>
          <p:nvPr/>
        </p:nvSpPr>
        <p:spPr>
          <a:xfrm rot="0">
            <a:off x="992238" y="5283994"/>
            <a:ext cx="9445523" cy="879577"/>
          </a:xfrm>
          <a:prstGeom prst="rect">
            <a:avLst/>
          </a:prstGeom>
        </p:spPr>
        <p:txBody>
          <a:bodyPr anchor="t" rtlCol="false" tIns="0" lIns="0" bIns="0" rIns="0">
            <a:spAutoFit/>
          </a:bodyPr>
          <a:lstStyle/>
          <a:p>
            <a:pPr algn="l">
              <a:lnSpc>
                <a:spcPts val="3125"/>
              </a:lnSpc>
            </a:pPr>
            <a:r>
              <a:rPr lang="en-US" sz="1937">
                <a:solidFill>
                  <a:srgbClr val="443728"/>
                </a:solidFill>
                <a:latin typeface="Open Sans"/>
                <a:ea typeface="Open Sans"/>
                <a:cs typeface="Open Sans"/>
                <a:sym typeface="Open Sans"/>
              </a:rPr>
              <a:t>A full-stack messaging platform delivering secure, scalable real-time communication</a:t>
            </a:r>
          </a:p>
        </p:txBody>
      </p:sp>
      <p:sp>
        <p:nvSpPr>
          <p:cNvPr name="TextBox 12" id="12"/>
          <p:cNvSpPr txBox="true"/>
          <p:nvPr/>
        </p:nvSpPr>
        <p:spPr>
          <a:xfrm rot="0">
            <a:off x="992238" y="6356899"/>
            <a:ext cx="9445523" cy="482651"/>
          </a:xfrm>
          <a:prstGeom prst="rect">
            <a:avLst/>
          </a:prstGeom>
        </p:spPr>
        <p:txBody>
          <a:bodyPr anchor="t" rtlCol="false" tIns="0" lIns="0" bIns="0" rIns="0">
            <a:spAutoFit/>
          </a:bodyPr>
          <a:lstStyle/>
          <a:p>
            <a:pPr algn="l">
              <a:lnSpc>
                <a:spcPts val="3125"/>
              </a:lnSpc>
            </a:pPr>
            <a:r>
              <a:rPr lang="en-US" sz="1937">
                <a:solidFill>
                  <a:srgbClr val="443728"/>
                </a:solidFill>
                <a:latin typeface="Open Sans"/>
                <a:ea typeface="Open Sans"/>
                <a:cs typeface="Open Sans"/>
                <a:sym typeface="Open Sans"/>
              </a:rPr>
              <a:t>Final Year Project Presentation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EDE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CFA"/>
            </a:solidFill>
          </p:spPr>
        </p:sp>
      </p:grpSp>
      <p:grpSp>
        <p:nvGrpSpPr>
          <p:cNvPr name="Group 6" id="6"/>
          <p:cNvGrpSpPr/>
          <p:nvPr/>
        </p:nvGrpSpPr>
        <p:grpSpPr>
          <a:xfrm rot="0">
            <a:off x="992238" y="2562968"/>
            <a:ext cx="1713157" cy="466430"/>
            <a:chOff x="0" y="0"/>
            <a:chExt cx="2284209" cy="621906"/>
          </a:xfrm>
        </p:grpSpPr>
        <p:sp>
          <p:nvSpPr>
            <p:cNvPr name="Freeform 7" id="7"/>
            <p:cNvSpPr/>
            <p:nvPr/>
          </p:nvSpPr>
          <p:spPr>
            <a:xfrm flipH="false" flipV="false" rot="0">
              <a:off x="0" y="0"/>
              <a:ext cx="2284222" cy="621919"/>
            </a:xfrm>
            <a:custGeom>
              <a:avLst/>
              <a:gdLst/>
              <a:ahLst/>
              <a:cxnLst/>
              <a:rect r="r" b="b" t="t" l="l"/>
              <a:pathLst>
                <a:path h="621919" w="2284222">
                  <a:moveTo>
                    <a:pt x="0" y="111125"/>
                  </a:moveTo>
                  <a:cubicBezTo>
                    <a:pt x="0" y="49784"/>
                    <a:pt x="49784" y="0"/>
                    <a:pt x="111125" y="0"/>
                  </a:cubicBezTo>
                  <a:lnTo>
                    <a:pt x="2173097" y="0"/>
                  </a:lnTo>
                  <a:cubicBezTo>
                    <a:pt x="2234438" y="0"/>
                    <a:pt x="2284222" y="49784"/>
                    <a:pt x="2284222" y="111125"/>
                  </a:cubicBezTo>
                  <a:lnTo>
                    <a:pt x="2284222" y="510794"/>
                  </a:lnTo>
                  <a:cubicBezTo>
                    <a:pt x="2284222" y="572135"/>
                    <a:pt x="2234438" y="621919"/>
                    <a:pt x="2173097" y="621919"/>
                  </a:cubicBezTo>
                  <a:lnTo>
                    <a:pt x="111125" y="621919"/>
                  </a:lnTo>
                  <a:cubicBezTo>
                    <a:pt x="49784" y="621919"/>
                    <a:pt x="0" y="572135"/>
                    <a:pt x="0" y="510794"/>
                  </a:cubicBezTo>
                  <a:close/>
                </a:path>
              </a:pathLst>
            </a:custGeom>
            <a:solidFill>
              <a:srgbClr val="EBE2E0"/>
            </a:solidFill>
          </p:spPr>
        </p:sp>
      </p:grpSp>
      <p:sp>
        <p:nvSpPr>
          <p:cNvPr name="Freeform 8" id="8" descr="preencoded.png"/>
          <p:cNvSpPr/>
          <p:nvPr/>
        </p:nvSpPr>
        <p:spPr>
          <a:xfrm flipH="false" flipV="false" rot="0">
            <a:off x="1141066" y="2696918"/>
            <a:ext cx="198387" cy="198387"/>
          </a:xfrm>
          <a:custGeom>
            <a:avLst/>
            <a:gdLst/>
            <a:ahLst/>
            <a:cxnLst/>
            <a:rect r="r" b="b" t="t" l="l"/>
            <a:pathLst>
              <a:path h="198387" w="198387">
                <a:moveTo>
                  <a:pt x="0" y="0"/>
                </a:moveTo>
                <a:lnTo>
                  <a:pt x="198387" y="0"/>
                </a:lnTo>
                <a:lnTo>
                  <a:pt x="198387" y="198387"/>
                </a:lnTo>
                <a:lnTo>
                  <a:pt x="0" y="198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438570" y="2580237"/>
            <a:ext cx="1117997" cy="374752"/>
          </a:xfrm>
          <a:prstGeom prst="rect">
            <a:avLst/>
          </a:prstGeom>
        </p:spPr>
        <p:txBody>
          <a:bodyPr anchor="t" rtlCol="false" tIns="0" lIns="0" bIns="0" rIns="0">
            <a:spAutoFit/>
          </a:bodyPr>
          <a:lstStyle/>
          <a:p>
            <a:pPr algn="l">
              <a:lnSpc>
                <a:spcPts val="2499"/>
              </a:lnSpc>
            </a:pPr>
            <a:r>
              <a:rPr lang="en-US" sz="1562">
                <a:solidFill>
                  <a:srgbClr val="443728"/>
                </a:solidFill>
                <a:latin typeface="Open Sans"/>
                <a:ea typeface="Open Sans"/>
                <a:cs typeface="Open Sans"/>
                <a:sym typeface="Open Sans"/>
              </a:rPr>
              <a:t>CHALLENGE</a:t>
            </a:r>
          </a:p>
        </p:txBody>
      </p:sp>
      <p:sp>
        <p:nvSpPr>
          <p:cNvPr name="TextBox 10" id="10"/>
          <p:cNvSpPr txBox="true"/>
          <p:nvPr/>
        </p:nvSpPr>
        <p:spPr>
          <a:xfrm rot="0">
            <a:off x="992238" y="3099940"/>
            <a:ext cx="6202261" cy="803672"/>
          </a:xfrm>
          <a:prstGeom prst="rect">
            <a:avLst/>
          </a:prstGeom>
        </p:spPr>
        <p:txBody>
          <a:bodyPr anchor="t" rtlCol="false" tIns="0" lIns="0" bIns="0" rIns="0">
            <a:spAutoFit/>
          </a:bodyPr>
          <a:lstStyle/>
          <a:p>
            <a:pPr algn="l">
              <a:lnSpc>
                <a:spcPts val="6062"/>
              </a:lnSpc>
            </a:pPr>
            <a:r>
              <a:rPr lang="en-US" sz="4875" b="true">
                <a:solidFill>
                  <a:srgbClr val="443728"/>
                </a:solidFill>
                <a:latin typeface="Crimson Pro Bold"/>
                <a:ea typeface="Crimson Pro Bold"/>
                <a:cs typeface="Crimson Pro Bold"/>
                <a:sym typeface="Crimson Pro Bold"/>
              </a:rPr>
              <a:t>Problem Statement</a:t>
            </a:r>
          </a:p>
        </p:txBody>
      </p:sp>
      <p:grpSp>
        <p:nvGrpSpPr>
          <p:cNvPr name="Group 11" id="11"/>
          <p:cNvGrpSpPr/>
          <p:nvPr/>
        </p:nvGrpSpPr>
        <p:grpSpPr>
          <a:xfrm rot="0">
            <a:off x="813645" y="4275687"/>
            <a:ext cx="7360891" cy="3448202"/>
            <a:chOff x="0" y="0"/>
            <a:chExt cx="9814522" cy="4597603"/>
          </a:xfrm>
        </p:grpSpPr>
        <p:sp>
          <p:nvSpPr>
            <p:cNvPr name="Freeform 12" id="12"/>
            <p:cNvSpPr/>
            <p:nvPr/>
          </p:nvSpPr>
          <p:spPr>
            <a:xfrm flipH="false" flipV="false" rot="0">
              <a:off x="0" y="0"/>
              <a:ext cx="9814560" cy="4597527"/>
            </a:xfrm>
            <a:custGeom>
              <a:avLst/>
              <a:gdLst/>
              <a:ahLst/>
              <a:cxnLst/>
              <a:rect r="r" b="b" t="t" l="l"/>
              <a:pathLst>
                <a:path h="4597527" w="9814560">
                  <a:moveTo>
                    <a:pt x="0" y="238125"/>
                  </a:moveTo>
                  <a:cubicBezTo>
                    <a:pt x="0" y="106680"/>
                    <a:pt x="106680" y="0"/>
                    <a:pt x="238125" y="0"/>
                  </a:cubicBezTo>
                  <a:lnTo>
                    <a:pt x="9576308" y="0"/>
                  </a:lnTo>
                  <a:cubicBezTo>
                    <a:pt x="9707880" y="0"/>
                    <a:pt x="9814560" y="106680"/>
                    <a:pt x="9814560" y="238125"/>
                  </a:cubicBezTo>
                  <a:lnTo>
                    <a:pt x="9814560" y="4359402"/>
                  </a:lnTo>
                  <a:cubicBezTo>
                    <a:pt x="9814560" y="4490974"/>
                    <a:pt x="9707880" y="4597527"/>
                    <a:pt x="9576435" y="4597527"/>
                  </a:cubicBezTo>
                  <a:lnTo>
                    <a:pt x="238125" y="4597527"/>
                  </a:lnTo>
                  <a:cubicBezTo>
                    <a:pt x="106680" y="4597654"/>
                    <a:pt x="0" y="4490974"/>
                    <a:pt x="0" y="4359402"/>
                  </a:cubicBezTo>
                  <a:close/>
                </a:path>
              </a:pathLst>
            </a:custGeom>
            <a:solidFill>
              <a:srgbClr val="835E54"/>
            </a:solidFill>
          </p:spPr>
        </p:sp>
      </p:grpSp>
      <p:sp>
        <p:nvSpPr>
          <p:cNvPr name="TextBox 13" id="13"/>
          <p:cNvSpPr txBox="true"/>
          <p:nvPr/>
        </p:nvSpPr>
        <p:spPr>
          <a:xfrm rot="0">
            <a:off x="1061590" y="4514107"/>
            <a:ext cx="3908222" cy="397221"/>
          </a:xfrm>
          <a:prstGeom prst="rect">
            <a:avLst/>
          </a:prstGeom>
        </p:spPr>
        <p:txBody>
          <a:bodyPr anchor="t" rtlCol="false" tIns="0" lIns="0" bIns="0" rIns="0">
            <a:spAutoFit/>
          </a:bodyPr>
          <a:lstStyle/>
          <a:p>
            <a:pPr algn="l">
              <a:lnSpc>
                <a:spcPts val="2999"/>
              </a:lnSpc>
            </a:pPr>
            <a:r>
              <a:rPr lang="en-US" sz="2437" b="true">
                <a:solidFill>
                  <a:srgbClr val="FFFFFF"/>
                </a:solidFill>
                <a:latin typeface="Crimson Pro Bold"/>
                <a:ea typeface="Crimson Pro Bold"/>
                <a:cs typeface="Crimson Pro Bold"/>
                <a:sym typeface="Crimson Pro Bold"/>
              </a:rPr>
              <a:t>Traditional HTTP Limitations</a:t>
            </a:r>
          </a:p>
        </p:txBody>
      </p:sp>
      <p:sp>
        <p:nvSpPr>
          <p:cNvPr name="TextBox 14" id="14"/>
          <p:cNvSpPr txBox="true"/>
          <p:nvPr/>
        </p:nvSpPr>
        <p:spPr>
          <a:xfrm rot="0">
            <a:off x="1061590" y="5073548"/>
            <a:ext cx="6864991" cy="1673428"/>
          </a:xfrm>
          <a:prstGeom prst="rect">
            <a:avLst/>
          </a:prstGeom>
        </p:spPr>
        <p:txBody>
          <a:bodyPr anchor="t" rtlCol="false" tIns="0" lIns="0" bIns="0" rIns="0">
            <a:spAutoFit/>
          </a:bodyPr>
          <a:lstStyle/>
          <a:p>
            <a:pPr algn="l">
              <a:lnSpc>
                <a:spcPts val="3125"/>
              </a:lnSpc>
            </a:pPr>
            <a:r>
              <a:rPr lang="en-US" sz="1937">
                <a:solidFill>
                  <a:srgbClr val="FFFFFF"/>
                </a:solidFill>
                <a:latin typeface="Open Sans"/>
                <a:ea typeface="Open Sans"/>
                <a:cs typeface="Open Sans"/>
                <a:sym typeface="Open Sans"/>
              </a:rPr>
              <a:t>Conventional HTTP polling creates unnecessary server load and introduces significant latency in message delivery, making real-time conversations inefficient and resource-intensive.</a:t>
            </a:r>
          </a:p>
        </p:txBody>
      </p:sp>
      <p:sp>
        <p:nvSpPr>
          <p:cNvPr name="TextBox 15" id="15"/>
          <p:cNvSpPr txBox="true"/>
          <p:nvPr/>
        </p:nvSpPr>
        <p:spPr>
          <a:xfrm rot="0">
            <a:off x="8610600" y="4413199"/>
            <a:ext cx="8694534" cy="1673428"/>
          </a:xfrm>
          <a:prstGeom prst="rect">
            <a:avLst/>
          </a:prstGeom>
        </p:spPr>
        <p:txBody>
          <a:bodyPr anchor="t" rtlCol="false" tIns="0" lIns="0" bIns="0" rIns="0">
            <a:spAutoFit/>
          </a:bodyPr>
          <a:lstStyle/>
          <a:p>
            <a:pPr algn="l">
              <a:lnSpc>
                <a:spcPts val="3125"/>
              </a:lnSpc>
            </a:pPr>
            <a:r>
              <a:rPr lang="en-US" sz="1937">
                <a:solidFill>
                  <a:srgbClr val="443728"/>
                </a:solidFill>
                <a:latin typeface="Open Sans"/>
                <a:ea typeface="Open Sans"/>
                <a:cs typeface="Open Sans"/>
                <a:sym typeface="Open Sans"/>
              </a:rPr>
              <a:t>Modern applications demand instant, bidirectional communication for seamless user experiences. Traditional request-response patterns fall short when users expect messages to appear instantaneously, leading to poor user satisfaction and increased infrastructure costs.</a:t>
            </a:r>
          </a:p>
        </p:txBody>
      </p:sp>
      <p:sp>
        <p:nvSpPr>
          <p:cNvPr name="TextBox 16" id="16"/>
          <p:cNvSpPr txBox="true"/>
          <p:nvPr/>
        </p:nvSpPr>
        <p:spPr>
          <a:xfrm rot="0">
            <a:off x="8610600" y="6224140"/>
            <a:ext cx="8694534" cy="1276502"/>
          </a:xfrm>
          <a:prstGeom prst="rect">
            <a:avLst/>
          </a:prstGeom>
        </p:spPr>
        <p:txBody>
          <a:bodyPr anchor="t" rtlCol="false" tIns="0" lIns="0" bIns="0" rIns="0">
            <a:spAutoFit/>
          </a:bodyPr>
          <a:lstStyle/>
          <a:p>
            <a:pPr algn="l">
              <a:lnSpc>
                <a:spcPts val="3125"/>
              </a:lnSpc>
            </a:pPr>
            <a:r>
              <a:rPr lang="en-US" sz="1937">
                <a:solidFill>
                  <a:srgbClr val="443728"/>
                </a:solidFill>
                <a:latin typeface="Open Sans"/>
                <a:ea typeface="Open Sans"/>
                <a:cs typeface="Open Sans"/>
                <a:sym typeface="Open Sans"/>
              </a:rPr>
              <a:t>The need for persistent connections and real-time data synchronisation has become critical in contemporary web applications, particularly for collaborative platforms and messaging systems.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EDE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CFA"/>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992238" y="2234060"/>
            <a:ext cx="6202261" cy="803672"/>
          </a:xfrm>
          <a:prstGeom prst="rect">
            <a:avLst/>
          </a:prstGeom>
        </p:spPr>
        <p:txBody>
          <a:bodyPr anchor="t" rtlCol="false" tIns="0" lIns="0" bIns="0" rIns="0">
            <a:spAutoFit/>
          </a:bodyPr>
          <a:lstStyle/>
          <a:p>
            <a:pPr algn="l">
              <a:lnSpc>
                <a:spcPts val="6062"/>
              </a:lnSpc>
            </a:pPr>
            <a:r>
              <a:rPr lang="en-US" sz="4875" b="true">
                <a:solidFill>
                  <a:srgbClr val="443728"/>
                </a:solidFill>
                <a:latin typeface="Crimson Pro Bold"/>
                <a:ea typeface="Crimson Pro Bold"/>
                <a:cs typeface="Crimson Pro Bold"/>
                <a:sym typeface="Crimson Pro Bold"/>
              </a:rPr>
              <a:t>Project Objectives</a:t>
            </a:r>
          </a:p>
        </p:txBody>
      </p:sp>
      <p:grpSp>
        <p:nvGrpSpPr>
          <p:cNvPr name="Group 11" id="11"/>
          <p:cNvGrpSpPr/>
          <p:nvPr/>
        </p:nvGrpSpPr>
        <p:grpSpPr>
          <a:xfrm rot="0">
            <a:off x="987476" y="3405035"/>
            <a:ext cx="2992641" cy="4624092"/>
            <a:chOff x="0" y="0"/>
            <a:chExt cx="3990188" cy="6165456"/>
          </a:xfrm>
        </p:grpSpPr>
        <p:sp>
          <p:nvSpPr>
            <p:cNvPr name="Freeform 12" id="12"/>
            <p:cNvSpPr/>
            <p:nvPr/>
          </p:nvSpPr>
          <p:spPr>
            <a:xfrm flipH="false" flipV="false" rot="0">
              <a:off x="6350" y="6350"/>
              <a:ext cx="3977513" cy="6152769"/>
            </a:xfrm>
            <a:custGeom>
              <a:avLst/>
              <a:gdLst/>
              <a:ahLst/>
              <a:cxnLst/>
              <a:rect r="r" b="b" t="t" l="l"/>
              <a:pathLst>
                <a:path h="6152769" w="3977513">
                  <a:moveTo>
                    <a:pt x="0" y="139065"/>
                  </a:moveTo>
                  <a:cubicBezTo>
                    <a:pt x="0" y="62230"/>
                    <a:pt x="62230" y="0"/>
                    <a:pt x="138938" y="0"/>
                  </a:cubicBezTo>
                  <a:lnTo>
                    <a:pt x="3838575" y="0"/>
                  </a:lnTo>
                  <a:cubicBezTo>
                    <a:pt x="3915283" y="0"/>
                    <a:pt x="3977513" y="62230"/>
                    <a:pt x="3977513" y="139065"/>
                  </a:cubicBezTo>
                  <a:lnTo>
                    <a:pt x="3977513" y="6013704"/>
                  </a:lnTo>
                  <a:cubicBezTo>
                    <a:pt x="3977513" y="6090539"/>
                    <a:pt x="3915283" y="6152769"/>
                    <a:pt x="3838575" y="6152769"/>
                  </a:cubicBezTo>
                  <a:lnTo>
                    <a:pt x="138938" y="6152769"/>
                  </a:lnTo>
                  <a:cubicBezTo>
                    <a:pt x="62230" y="6152769"/>
                    <a:pt x="0" y="6090539"/>
                    <a:pt x="0" y="6013704"/>
                  </a:cubicBezTo>
                  <a:close/>
                </a:path>
              </a:pathLst>
            </a:custGeom>
            <a:solidFill>
              <a:srgbClr val="EBE2E0"/>
            </a:solidFill>
          </p:spPr>
        </p:sp>
        <p:sp>
          <p:nvSpPr>
            <p:cNvPr name="Freeform 13" id="13"/>
            <p:cNvSpPr/>
            <p:nvPr/>
          </p:nvSpPr>
          <p:spPr>
            <a:xfrm flipH="false" flipV="false" rot="0">
              <a:off x="0" y="0"/>
              <a:ext cx="3990213" cy="6165469"/>
            </a:xfrm>
            <a:custGeom>
              <a:avLst/>
              <a:gdLst/>
              <a:ahLst/>
              <a:cxnLst/>
              <a:rect r="r" b="b" t="t" l="l"/>
              <a:pathLst>
                <a:path h="6165469" w="3990213">
                  <a:moveTo>
                    <a:pt x="0" y="145415"/>
                  </a:moveTo>
                  <a:cubicBezTo>
                    <a:pt x="0" y="65151"/>
                    <a:pt x="65024" y="0"/>
                    <a:pt x="145288" y="0"/>
                  </a:cubicBezTo>
                  <a:lnTo>
                    <a:pt x="3844925" y="0"/>
                  </a:lnTo>
                  <a:lnTo>
                    <a:pt x="3844925" y="6350"/>
                  </a:lnTo>
                  <a:lnTo>
                    <a:pt x="3844925" y="0"/>
                  </a:lnTo>
                  <a:cubicBezTo>
                    <a:pt x="3925189" y="0"/>
                    <a:pt x="3990213" y="65151"/>
                    <a:pt x="3990213" y="145415"/>
                  </a:cubicBezTo>
                  <a:lnTo>
                    <a:pt x="3983863" y="145415"/>
                  </a:lnTo>
                  <a:lnTo>
                    <a:pt x="3990213" y="145415"/>
                  </a:lnTo>
                  <a:lnTo>
                    <a:pt x="3990213" y="6020054"/>
                  </a:lnTo>
                  <a:lnTo>
                    <a:pt x="3983863" y="6020054"/>
                  </a:lnTo>
                  <a:lnTo>
                    <a:pt x="3990213" y="6020054"/>
                  </a:lnTo>
                  <a:cubicBezTo>
                    <a:pt x="3990213" y="6100318"/>
                    <a:pt x="3925189" y="6165469"/>
                    <a:pt x="3844925" y="6165469"/>
                  </a:cubicBezTo>
                  <a:lnTo>
                    <a:pt x="3844925" y="6159119"/>
                  </a:lnTo>
                  <a:lnTo>
                    <a:pt x="3844925" y="6165469"/>
                  </a:lnTo>
                  <a:lnTo>
                    <a:pt x="145288" y="6165469"/>
                  </a:lnTo>
                  <a:lnTo>
                    <a:pt x="145288" y="6159119"/>
                  </a:lnTo>
                  <a:lnTo>
                    <a:pt x="145288" y="6165469"/>
                  </a:lnTo>
                  <a:cubicBezTo>
                    <a:pt x="65024" y="6165469"/>
                    <a:pt x="0" y="6100318"/>
                    <a:pt x="0" y="6020054"/>
                  </a:cubicBezTo>
                  <a:lnTo>
                    <a:pt x="0" y="145415"/>
                  </a:lnTo>
                  <a:lnTo>
                    <a:pt x="6350" y="145415"/>
                  </a:lnTo>
                  <a:lnTo>
                    <a:pt x="0" y="145415"/>
                  </a:lnTo>
                  <a:moveTo>
                    <a:pt x="12700" y="145415"/>
                  </a:moveTo>
                  <a:lnTo>
                    <a:pt x="12700" y="6020054"/>
                  </a:lnTo>
                  <a:lnTo>
                    <a:pt x="6350" y="6020054"/>
                  </a:lnTo>
                  <a:lnTo>
                    <a:pt x="12700" y="6020054"/>
                  </a:lnTo>
                  <a:cubicBezTo>
                    <a:pt x="12700" y="6093333"/>
                    <a:pt x="72009" y="6152769"/>
                    <a:pt x="145288" y="6152769"/>
                  </a:cubicBezTo>
                  <a:lnTo>
                    <a:pt x="3844925" y="6152769"/>
                  </a:lnTo>
                  <a:cubicBezTo>
                    <a:pt x="3918204" y="6152769"/>
                    <a:pt x="3977513" y="6093333"/>
                    <a:pt x="3977513" y="6020054"/>
                  </a:cubicBezTo>
                  <a:lnTo>
                    <a:pt x="3977513" y="145415"/>
                  </a:lnTo>
                  <a:cubicBezTo>
                    <a:pt x="3977513" y="72136"/>
                    <a:pt x="3918077" y="12700"/>
                    <a:pt x="3844925" y="12700"/>
                  </a:cubicBezTo>
                  <a:lnTo>
                    <a:pt x="145288" y="12700"/>
                  </a:lnTo>
                  <a:lnTo>
                    <a:pt x="145288" y="6350"/>
                  </a:lnTo>
                  <a:lnTo>
                    <a:pt x="145288" y="12700"/>
                  </a:lnTo>
                  <a:cubicBezTo>
                    <a:pt x="72009" y="12700"/>
                    <a:pt x="12700" y="72136"/>
                    <a:pt x="12700" y="145415"/>
                  </a:cubicBezTo>
                  <a:close/>
                </a:path>
              </a:pathLst>
            </a:custGeom>
            <a:solidFill>
              <a:srgbClr val="D1C8C6"/>
            </a:solidFill>
          </p:spPr>
        </p:sp>
      </p:grpSp>
      <p:sp>
        <p:nvSpPr>
          <p:cNvPr name="TextBox 14" id="14"/>
          <p:cNvSpPr txBox="true"/>
          <p:nvPr/>
        </p:nvSpPr>
        <p:spPr>
          <a:xfrm rot="0">
            <a:off x="1249709" y="3657752"/>
            <a:ext cx="2468166" cy="784917"/>
          </a:xfrm>
          <a:prstGeom prst="rect">
            <a:avLst/>
          </a:prstGeom>
        </p:spPr>
        <p:txBody>
          <a:bodyPr anchor="t" rtlCol="false" tIns="0" lIns="0" bIns="0" rIns="0">
            <a:spAutoFit/>
          </a:bodyPr>
          <a:lstStyle/>
          <a:p>
            <a:pPr algn="l">
              <a:lnSpc>
                <a:spcPts val="2999"/>
              </a:lnSpc>
            </a:pPr>
            <a:r>
              <a:rPr lang="en-US" sz="2437" b="true">
                <a:solidFill>
                  <a:srgbClr val="443728"/>
                </a:solidFill>
                <a:latin typeface="Crimson Pro Bold"/>
                <a:ea typeface="Crimson Pro Bold"/>
                <a:cs typeface="Crimson Pro Bold"/>
                <a:sym typeface="Crimson Pro Bold"/>
              </a:rPr>
              <a:t>Real-Time Communication</a:t>
            </a:r>
          </a:p>
        </p:txBody>
      </p:sp>
      <p:sp>
        <p:nvSpPr>
          <p:cNvPr name="TextBox 15" id="15"/>
          <p:cNvSpPr txBox="true"/>
          <p:nvPr/>
        </p:nvSpPr>
        <p:spPr>
          <a:xfrm rot="0">
            <a:off x="1249709" y="4505773"/>
            <a:ext cx="2468166" cy="3261122"/>
          </a:xfrm>
          <a:prstGeom prst="rect">
            <a:avLst/>
          </a:prstGeom>
        </p:spPr>
        <p:txBody>
          <a:bodyPr anchor="t" rtlCol="false" tIns="0" lIns="0" bIns="0" rIns="0">
            <a:spAutoFit/>
          </a:bodyPr>
          <a:lstStyle/>
          <a:p>
            <a:pPr algn="l">
              <a:lnSpc>
                <a:spcPts val="3125"/>
              </a:lnSpc>
            </a:pPr>
            <a:r>
              <a:rPr lang="en-US" sz="1937">
                <a:solidFill>
                  <a:srgbClr val="443728"/>
                </a:solidFill>
                <a:latin typeface="Open Sans"/>
                <a:ea typeface="Open Sans"/>
                <a:cs typeface="Open Sans"/>
                <a:sym typeface="Open Sans"/>
              </a:rPr>
              <a:t>Implement WebSocket-based architecture for instant bidirectional messaging with minimal latency and optimal performance.</a:t>
            </a:r>
          </a:p>
        </p:txBody>
      </p:sp>
      <p:grpSp>
        <p:nvGrpSpPr>
          <p:cNvPr name="Group 16" id="16"/>
          <p:cNvGrpSpPr/>
          <p:nvPr/>
        </p:nvGrpSpPr>
        <p:grpSpPr>
          <a:xfrm rot="0">
            <a:off x="4218537" y="3405035"/>
            <a:ext cx="2992784" cy="4624092"/>
            <a:chOff x="0" y="0"/>
            <a:chExt cx="3990378" cy="6165456"/>
          </a:xfrm>
        </p:grpSpPr>
        <p:sp>
          <p:nvSpPr>
            <p:cNvPr name="Freeform 17" id="17"/>
            <p:cNvSpPr/>
            <p:nvPr/>
          </p:nvSpPr>
          <p:spPr>
            <a:xfrm flipH="false" flipV="false" rot="0">
              <a:off x="6350" y="6350"/>
              <a:ext cx="3977640" cy="6152769"/>
            </a:xfrm>
            <a:custGeom>
              <a:avLst/>
              <a:gdLst/>
              <a:ahLst/>
              <a:cxnLst/>
              <a:rect r="r" b="b" t="t" l="l"/>
              <a:pathLst>
                <a:path h="6152769" w="3977640">
                  <a:moveTo>
                    <a:pt x="0" y="139065"/>
                  </a:moveTo>
                  <a:cubicBezTo>
                    <a:pt x="0" y="62230"/>
                    <a:pt x="62230" y="0"/>
                    <a:pt x="138938" y="0"/>
                  </a:cubicBezTo>
                  <a:lnTo>
                    <a:pt x="3838702" y="0"/>
                  </a:lnTo>
                  <a:cubicBezTo>
                    <a:pt x="3915410" y="0"/>
                    <a:pt x="3977640" y="62230"/>
                    <a:pt x="3977640" y="139065"/>
                  </a:cubicBezTo>
                  <a:lnTo>
                    <a:pt x="3977640" y="6013704"/>
                  </a:lnTo>
                  <a:cubicBezTo>
                    <a:pt x="3977640" y="6090539"/>
                    <a:pt x="3915410" y="6152769"/>
                    <a:pt x="3838702" y="6152769"/>
                  </a:cubicBezTo>
                  <a:lnTo>
                    <a:pt x="138938" y="6152769"/>
                  </a:lnTo>
                  <a:cubicBezTo>
                    <a:pt x="62230" y="6152769"/>
                    <a:pt x="0" y="6090539"/>
                    <a:pt x="0" y="6013704"/>
                  </a:cubicBezTo>
                  <a:close/>
                </a:path>
              </a:pathLst>
            </a:custGeom>
            <a:solidFill>
              <a:srgbClr val="EBE2E0"/>
            </a:solidFill>
          </p:spPr>
        </p:sp>
        <p:sp>
          <p:nvSpPr>
            <p:cNvPr name="Freeform 18" id="18"/>
            <p:cNvSpPr/>
            <p:nvPr/>
          </p:nvSpPr>
          <p:spPr>
            <a:xfrm flipH="false" flipV="false" rot="0">
              <a:off x="0" y="0"/>
              <a:ext cx="3990340" cy="6165469"/>
            </a:xfrm>
            <a:custGeom>
              <a:avLst/>
              <a:gdLst/>
              <a:ahLst/>
              <a:cxnLst/>
              <a:rect r="r" b="b" t="t" l="l"/>
              <a:pathLst>
                <a:path h="6165469" w="3990340">
                  <a:moveTo>
                    <a:pt x="0" y="145415"/>
                  </a:moveTo>
                  <a:cubicBezTo>
                    <a:pt x="0" y="65151"/>
                    <a:pt x="65024" y="0"/>
                    <a:pt x="145288" y="0"/>
                  </a:cubicBezTo>
                  <a:lnTo>
                    <a:pt x="3845052" y="0"/>
                  </a:lnTo>
                  <a:lnTo>
                    <a:pt x="3845052" y="6350"/>
                  </a:lnTo>
                  <a:lnTo>
                    <a:pt x="3845052" y="0"/>
                  </a:lnTo>
                  <a:cubicBezTo>
                    <a:pt x="3925316" y="0"/>
                    <a:pt x="3990340" y="65151"/>
                    <a:pt x="3990340" y="145415"/>
                  </a:cubicBezTo>
                  <a:lnTo>
                    <a:pt x="3983990" y="145415"/>
                  </a:lnTo>
                  <a:lnTo>
                    <a:pt x="3990340" y="145415"/>
                  </a:lnTo>
                  <a:lnTo>
                    <a:pt x="3990340" y="6020054"/>
                  </a:lnTo>
                  <a:lnTo>
                    <a:pt x="3983990" y="6020054"/>
                  </a:lnTo>
                  <a:lnTo>
                    <a:pt x="3990340" y="6020054"/>
                  </a:lnTo>
                  <a:cubicBezTo>
                    <a:pt x="3990340" y="6100318"/>
                    <a:pt x="3925316" y="6165469"/>
                    <a:pt x="3845052" y="6165469"/>
                  </a:cubicBezTo>
                  <a:lnTo>
                    <a:pt x="3845052" y="6159119"/>
                  </a:lnTo>
                  <a:lnTo>
                    <a:pt x="3845052" y="6165469"/>
                  </a:lnTo>
                  <a:lnTo>
                    <a:pt x="145288" y="6165469"/>
                  </a:lnTo>
                  <a:lnTo>
                    <a:pt x="145288" y="6159119"/>
                  </a:lnTo>
                  <a:lnTo>
                    <a:pt x="145288" y="6165469"/>
                  </a:lnTo>
                  <a:cubicBezTo>
                    <a:pt x="65024" y="6165469"/>
                    <a:pt x="0" y="6100318"/>
                    <a:pt x="0" y="6020054"/>
                  </a:cubicBezTo>
                  <a:lnTo>
                    <a:pt x="0" y="145415"/>
                  </a:lnTo>
                  <a:lnTo>
                    <a:pt x="6350" y="145415"/>
                  </a:lnTo>
                  <a:lnTo>
                    <a:pt x="0" y="145415"/>
                  </a:lnTo>
                  <a:moveTo>
                    <a:pt x="12700" y="145415"/>
                  </a:moveTo>
                  <a:lnTo>
                    <a:pt x="12700" y="6020054"/>
                  </a:lnTo>
                  <a:lnTo>
                    <a:pt x="6350" y="6020054"/>
                  </a:lnTo>
                  <a:lnTo>
                    <a:pt x="12700" y="6020054"/>
                  </a:lnTo>
                  <a:cubicBezTo>
                    <a:pt x="12700" y="6093333"/>
                    <a:pt x="72009" y="6152769"/>
                    <a:pt x="145288" y="6152769"/>
                  </a:cubicBezTo>
                  <a:lnTo>
                    <a:pt x="3845052" y="6152769"/>
                  </a:lnTo>
                  <a:cubicBezTo>
                    <a:pt x="3918331" y="6152769"/>
                    <a:pt x="3977640" y="6093333"/>
                    <a:pt x="3977640" y="6020054"/>
                  </a:cubicBezTo>
                  <a:lnTo>
                    <a:pt x="3977640" y="145415"/>
                  </a:lnTo>
                  <a:cubicBezTo>
                    <a:pt x="3977640" y="72136"/>
                    <a:pt x="3918331" y="12700"/>
                    <a:pt x="3845052" y="12700"/>
                  </a:cubicBezTo>
                  <a:lnTo>
                    <a:pt x="145288" y="12700"/>
                  </a:lnTo>
                  <a:lnTo>
                    <a:pt x="145288" y="6350"/>
                  </a:lnTo>
                  <a:lnTo>
                    <a:pt x="145288" y="12700"/>
                  </a:lnTo>
                  <a:cubicBezTo>
                    <a:pt x="72009" y="12700"/>
                    <a:pt x="12700" y="72136"/>
                    <a:pt x="12700" y="145415"/>
                  </a:cubicBezTo>
                  <a:close/>
                </a:path>
              </a:pathLst>
            </a:custGeom>
            <a:solidFill>
              <a:srgbClr val="D1C8C6"/>
            </a:solidFill>
          </p:spPr>
        </p:sp>
      </p:grpSp>
      <p:sp>
        <p:nvSpPr>
          <p:cNvPr name="TextBox 19" id="19"/>
          <p:cNvSpPr txBox="true"/>
          <p:nvPr/>
        </p:nvSpPr>
        <p:spPr>
          <a:xfrm rot="0">
            <a:off x="4480770" y="3657752"/>
            <a:ext cx="2468318" cy="397221"/>
          </a:xfrm>
          <a:prstGeom prst="rect">
            <a:avLst/>
          </a:prstGeom>
        </p:spPr>
        <p:txBody>
          <a:bodyPr anchor="t" rtlCol="false" tIns="0" lIns="0" bIns="0" rIns="0">
            <a:spAutoFit/>
          </a:bodyPr>
          <a:lstStyle/>
          <a:p>
            <a:pPr algn="l">
              <a:lnSpc>
                <a:spcPts val="2999"/>
              </a:lnSpc>
            </a:pPr>
            <a:r>
              <a:rPr lang="en-US" sz="2437" b="true">
                <a:solidFill>
                  <a:srgbClr val="443728"/>
                </a:solidFill>
                <a:latin typeface="Crimson Pro Bold"/>
                <a:ea typeface="Crimson Pro Bold"/>
                <a:cs typeface="Crimson Pro Bold"/>
                <a:sym typeface="Crimson Pro Bold"/>
              </a:rPr>
              <a:t>Security First</a:t>
            </a:r>
          </a:p>
        </p:txBody>
      </p:sp>
      <p:sp>
        <p:nvSpPr>
          <p:cNvPr name="TextBox 20" id="20"/>
          <p:cNvSpPr txBox="true"/>
          <p:nvPr/>
        </p:nvSpPr>
        <p:spPr>
          <a:xfrm rot="0">
            <a:off x="4480770" y="4118077"/>
            <a:ext cx="2468318" cy="2864196"/>
          </a:xfrm>
          <a:prstGeom prst="rect">
            <a:avLst/>
          </a:prstGeom>
        </p:spPr>
        <p:txBody>
          <a:bodyPr anchor="t" rtlCol="false" tIns="0" lIns="0" bIns="0" rIns="0">
            <a:spAutoFit/>
          </a:bodyPr>
          <a:lstStyle/>
          <a:p>
            <a:pPr algn="l">
              <a:lnSpc>
                <a:spcPts val="3125"/>
              </a:lnSpc>
            </a:pPr>
            <a:r>
              <a:rPr lang="en-US" sz="1937">
                <a:solidFill>
                  <a:srgbClr val="443728"/>
                </a:solidFill>
                <a:latin typeface="Open Sans"/>
                <a:ea typeface="Open Sans"/>
                <a:cs typeface="Open Sans"/>
                <a:sym typeface="Open Sans"/>
              </a:rPr>
              <a:t>Deploy JWT-based authentication combined with bcrypt password hashing to ensure secure user sessions and data protection.</a:t>
            </a:r>
          </a:p>
        </p:txBody>
      </p:sp>
      <p:grpSp>
        <p:nvGrpSpPr>
          <p:cNvPr name="Group 21" id="21"/>
          <p:cNvGrpSpPr/>
          <p:nvPr/>
        </p:nvGrpSpPr>
        <p:grpSpPr>
          <a:xfrm rot="0">
            <a:off x="7449741" y="3405035"/>
            <a:ext cx="2992784" cy="4624092"/>
            <a:chOff x="0" y="0"/>
            <a:chExt cx="3990378" cy="6165456"/>
          </a:xfrm>
        </p:grpSpPr>
        <p:sp>
          <p:nvSpPr>
            <p:cNvPr name="Freeform 22" id="22"/>
            <p:cNvSpPr/>
            <p:nvPr/>
          </p:nvSpPr>
          <p:spPr>
            <a:xfrm flipH="false" flipV="false" rot="0">
              <a:off x="6350" y="6350"/>
              <a:ext cx="3977640" cy="6152769"/>
            </a:xfrm>
            <a:custGeom>
              <a:avLst/>
              <a:gdLst/>
              <a:ahLst/>
              <a:cxnLst/>
              <a:rect r="r" b="b" t="t" l="l"/>
              <a:pathLst>
                <a:path h="6152769" w="3977640">
                  <a:moveTo>
                    <a:pt x="0" y="139065"/>
                  </a:moveTo>
                  <a:cubicBezTo>
                    <a:pt x="0" y="62230"/>
                    <a:pt x="62230" y="0"/>
                    <a:pt x="138938" y="0"/>
                  </a:cubicBezTo>
                  <a:lnTo>
                    <a:pt x="3838702" y="0"/>
                  </a:lnTo>
                  <a:cubicBezTo>
                    <a:pt x="3915410" y="0"/>
                    <a:pt x="3977640" y="62230"/>
                    <a:pt x="3977640" y="139065"/>
                  </a:cubicBezTo>
                  <a:lnTo>
                    <a:pt x="3977640" y="6013704"/>
                  </a:lnTo>
                  <a:cubicBezTo>
                    <a:pt x="3977640" y="6090539"/>
                    <a:pt x="3915410" y="6152769"/>
                    <a:pt x="3838702" y="6152769"/>
                  </a:cubicBezTo>
                  <a:lnTo>
                    <a:pt x="138938" y="6152769"/>
                  </a:lnTo>
                  <a:cubicBezTo>
                    <a:pt x="62230" y="6152769"/>
                    <a:pt x="0" y="6090539"/>
                    <a:pt x="0" y="6013704"/>
                  </a:cubicBezTo>
                  <a:close/>
                </a:path>
              </a:pathLst>
            </a:custGeom>
            <a:solidFill>
              <a:srgbClr val="EBE2E0"/>
            </a:solidFill>
          </p:spPr>
        </p:sp>
        <p:sp>
          <p:nvSpPr>
            <p:cNvPr name="Freeform 23" id="23"/>
            <p:cNvSpPr/>
            <p:nvPr/>
          </p:nvSpPr>
          <p:spPr>
            <a:xfrm flipH="false" flipV="false" rot="0">
              <a:off x="0" y="0"/>
              <a:ext cx="3990340" cy="6165469"/>
            </a:xfrm>
            <a:custGeom>
              <a:avLst/>
              <a:gdLst/>
              <a:ahLst/>
              <a:cxnLst/>
              <a:rect r="r" b="b" t="t" l="l"/>
              <a:pathLst>
                <a:path h="6165469" w="3990340">
                  <a:moveTo>
                    <a:pt x="0" y="145415"/>
                  </a:moveTo>
                  <a:cubicBezTo>
                    <a:pt x="0" y="65151"/>
                    <a:pt x="65024" y="0"/>
                    <a:pt x="145288" y="0"/>
                  </a:cubicBezTo>
                  <a:lnTo>
                    <a:pt x="3845052" y="0"/>
                  </a:lnTo>
                  <a:lnTo>
                    <a:pt x="3845052" y="6350"/>
                  </a:lnTo>
                  <a:lnTo>
                    <a:pt x="3845052" y="0"/>
                  </a:lnTo>
                  <a:cubicBezTo>
                    <a:pt x="3925316" y="0"/>
                    <a:pt x="3990340" y="65151"/>
                    <a:pt x="3990340" y="145415"/>
                  </a:cubicBezTo>
                  <a:lnTo>
                    <a:pt x="3983990" y="145415"/>
                  </a:lnTo>
                  <a:lnTo>
                    <a:pt x="3990340" y="145415"/>
                  </a:lnTo>
                  <a:lnTo>
                    <a:pt x="3990340" y="6020054"/>
                  </a:lnTo>
                  <a:lnTo>
                    <a:pt x="3983990" y="6020054"/>
                  </a:lnTo>
                  <a:lnTo>
                    <a:pt x="3990340" y="6020054"/>
                  </a:lnTo>
                  <a:cubicBezTo>
                    <a:pt x="3990340" y="6100318"/>
                    <a:pt x="3925316" y="6165469"/>
                    <a:pt x="3845052" y="6165469"/>
                  </a:cubicBezTo>
                  <a:lnTo>
                    <a:pt x="3845052" y="6159119"/>
                  </a:lnTo>
                  <a:lnTo>
                    <a:pt x="3845052" y="6165469"/>
                  </a:lnTo>
                  <a:lnTo>
                    <a:pt x="145288" y="6165469"/>
                  </a:lnTo>
                  <a:lnTo>
                    <a:pt x="145288" y="6159119"/>
                  </a:lnTo>
                  <a:lnTo>
                    <a:pt x="145288" y="6165469"/>
                  </a:lnTo>
                  <a:cubicBezTo>
                    <a:pt x="65024" y="6165469"/>
                    <a:pt x="0" y="6100318"/>
                    <a:pt x="0" y="6020054"/>
                  </a:cubicBezTo>
                  <a:lnTo>
                    <a:pt x="0" y="145415"/>
                  </a:lnTo>
                  <a:lnTo>
                    <a:pt x="6350" y="145415"/>
                  </a:lnTo>
                  <a:lnTo>
                    <a:pt x="0" y="145415"/>
                  </a:lnTo>
                  <a:moveTo>
                    <a:pt x="12700" y="145415"/>
                  </a:moveTo>
                  <a:lnTo>
                    <a:pt x="12700" y="6020054"/>
                  </a:lnTo>
                  <a:lnTo>
                    <a:pt x="6350" y="6020054"/>
                  </a:lnTo>
                  <a:lnTo>
                    <a:pt x="12700" y="6020054"/>
                  </a:lnTo>
                  <a:cubicBezTo>
                    <a:pt x="12700" y="6093333"/>
                    <a:pt x="72009" y="6152769"/>
                    <a:pt x="145288" y="6152769"/>
                  </a:cubicBezTo>
                  <a:lnTo>
                    <a:pt x="3845052" y="6152769"/>
                  </a:lnTo>
                  <a:cubicBezTo>
                    <a:pt x="3918331" y="6152769"/>
                    <a:pt x="3977640" y="6093333"/>
                    <a:pt x="3977640" y="6020054"/>
                  </a:cubicBezTo>
                  <a:lnTo>
                    <a:pt x="3977640" y="145415"/>
                  </a:lnTo>
                  <a:cubicBezTo>
                    <a:pt x="3977640" y="72136"/>
                    <a:pt x="3918331" y="12700"/>
                    <a:pt x="3845052" y="12700"/>
                  </a:cubicBezTo>
                  <a:lnTo>
                    <a:pt x="145288" y="12700"/>
                  </a:lnTo>
                  <a:lnTo>
                    <a:pt x="145288" y="6350"/>
                  </a:lnTo>
                  <a:lnTo>
                    <a:pt x="145288" y="12700"/>
                  </a:lnTo>
                  <a:cubicBezTo>
                    <a:pt x="72009" y="12700"/>
                    <a:pt x="12700" y="72136"/>
                    <a:pt x="12700" y="145415"/>
                  </a:cubicBezTo>
                  <a:close/>
                </a:path>
              </a:pathLst>
            </a:custGeom>
            <a:solidFill>
              <a:srgbClr val="D1C8C6"/>
            </a:solidFill>
          </p:spPr>
        </p:sp>
      </p:grpSp>
      <p:sp>
        <p:nvSpPr>
          <p:cNvPr name="TextBox 24" id="24"/>
          <p:cNvSpPr txBox="true"/>
          <p:nvPr/>
        </p:nvSpPr>
        <p:spPr>
          <a:xfrm rot="0">
            <a:off x="7711973" y="3657752"/>
            <a:ext cx="2468318" cy="397221"/>
          </a:xfrm>
          <a:prstGeom prst="rect">
            <a:avLst/>
          </a:prstGeom>
        </p:spPr>
        <p:txBody>
          <a:bodyPr anchor="t" rtlCol="false" tIns="0" lIns="0" bIns="0" rIns="0">
            <a:spAutoFit/>
          </a:bodyPr>
          <a:lstStyle/>
          <a:p>
            <a:pPr algn="l">
              <a:lnSpc>
                <a:spcPts val="2999"/>
              </a:lnSpc>
            </a:pPr>
            <a:r>
              <a:rPr lang="en-US" sz="2437" b="true">
                <a:solidFill>
                  <a:srgbClr val="443728"/>
                </a:solidFill>
                <a:latin typeface="Crimson Pro Bold"/>
                <a:ea typeface="Crimson Pro Bold"/>
                <a:cs typeface="Crimson Pro Bold"/>
                <a:sym typeface="Crimson Pro Bold"/>
              </a:rPr>
              <a:t>Scalable Design</a:t>
            </a:r>
          </a:p>
        </p:txBody>
      </p:sp>
      <p:sp>
        <p:nvSpPr>
          <p:cNvPr name="TextBox 25" id="25"/>
          <p:cNvSpPr txBox="true"/>
          <p:nvPr/>
        </p:nvSpPr>
        <p:spPr>
          <a:xfrm rot="0">
            <a:off x="7711973" y="4118077"/>
            <a:ext cx="2468318" cy="3261122"/>
          </a:xfrm>
          <a:prstGeom prst="rect">
            <a:avLst/>
          </a:prstGeom>
        </p:spPr>
        <p:txBody>
          <a:bodyPr anchor="t" rtlCol="false" tIns="0" lIns="0" bIns="0" rIns="0">
            <a:spAutoFit/>
          </a:bodyPr>
          <a:lstStyle/>
          <a:p>
            <a:pPr algn="l">
              <a:lnSpc>
                <a:spcPts val="3125"/>
              </a:lnSpc>
            </a:pPr>
            <a:r>
              <a:rPr lang="en-US" sz="1937">
                <a:solidFill>
                  <a:srgbClr val="443728"/>
                </a:solidFill>
                <a:latin typeface="Open Sans"/>
                <a:ea typeface="Open Sans"/>
                <a:cs typeface="Open Sans"/>
                <a:sym typeface="Open Sans"/>
              </a:rPr>
              <a:t>Build modular backend architecture with separation of concerns, enabling future enhancements and efficient maintenance.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EDE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CFA"/>
            </a:solidFill>
          </p:spPr>
        </p:sp>
      </p:grpSp>
      <p:sp>
        <p:nvSpPr>
          <p:cNvPr name="TextBox 6" id="6"/>
          <p:cNvSpPr txBox="true"/>
          <p:nvPr/>
        </p:nvSpPr>
        <p:spPr>
          <a:xfrm rot="0">
            <a:off x="992238" y="1659436"/>
            <a:ext cx="6202261" cy="803672"/>
          </a:xfrm>
          <a:prstGeom prst="rect">
            <a:avLst/>
          </a:prstGeom>
        </p:spPr>
        <p:txBody>
          <a:bodyPr anchor="t" rtlCol="false" tIns="0" lIns="0" bIns="0" rIns="0">
            <a:spAutoFit/>
          </a:bodyPr>
          <a:lstStyle/>
          <a:p>
            <a:pPr algn="l">
              <a:lnSpc>
                <a:spcPts val="6062"/>
              </a:lnSpc>
            </a:pPr>
            <a:r>
              <a:rPr lang="en-US" sz="4875" b="true">
                <a:solidFill>
                  <a:srgbClr val="443728"/>
                </a:solidFill>
                <a:latin typeface="Crimson Pro Bold"/>
                <a:ea typeface="Crimson Pro Bold"/>
                <a:cs typeface="Crimson Pro Bold"/>
                <a:sym typeface="Crimson Pro Bold"/>
              </a:rPr>
              <a:t>Technology Stack</a:t>
            </a:r>
          </a:p>
        </p:txBody>
      </p:sp>
      <p:grpSp>
        <p:nvGrpSpPr>
          <p:cNvPr name="Group 7" id="7"/>
          <p:cNvGrpSpPr/>
          <p:nvPr/>
        </p:nvGrpSpPr>
        <p:grpSpPr>
          <a:xfrm rot="0">
            <a:off x="992238" y="2959151"/>
            <a:ext cx="3032074" cy="3032074"/>
            <a:chOff x="0" y="0"/>
            <a:chExt cx="4042766" cy="4042766"/>
          </a:xfrm>
        </p:grpSpPr>
        <p:sp>
          <p:nvSpPr>
            <p:cNvPr name="Freeform 8" id="8" descr="preencoded.png"/>
            <p:cNvSpPr/>
            <p:nvPr/>
          </p:nvSpPr>
          <p:spPr>
            <a:xfrm flipH="false" flipV="false" rot="0">
              <a:off x="0" y="0"/>
              <a:ext cx="4042791" cy="4042791"/>
            </a:xfrm>
            <a:custGeom>
              <a:avLst/>
              <a:gdLst/>
              <a:ahLst/>
              <a:cxnLst/>
              <a:rect r="r" b="b" t="t" l="l"/>
              <a:pathLst>
                <a:path h="4042791" w="4042791">
                  <a:moveTo>
                    <a:pt x="0" y="0"/>
                  </a:moveTo>
                  <a:lnTo>
                    <a:pt x="4042791" y="0"/>
                  </a:lnTo>
                  <a:lnTo>
                    <a:pt x="4042791" y="4042791"/>
                  </a:lnTo>
                  <a:lnTo>
                    <a:pt x="0" y="4042791"/>
                  </a:lnTo>
                  <a:lnTo>
                    <a:pt x="0" y="0"/>
                  </a:lnTo>
                  <a:close/>
                </a:path>
              </a:pathLst>
            </a:custGeom>
            <a:blipFill>
              <a:blip r:embed="rId3"/>
              <a:stretch>
                <a:fillRect l="0" t="0" r="0" b="0"/>
              </a:stretch>
            </a:blipFill>
          </p:spPr>
        </p:sp>
      </p:grpSp>
      <p:sp>
        <p:nvSpPr>
          <p:cNvPr name="TextBox 9" id="9"/>
          <p:cNvSpPr txBox="true"/>
          <p:nvPr/>
        </p:nvSpPr>
        <p:spPr>
          <a:xfrm rot="0">
            <a:off x="992238" y="6291710"/>
            <a:ext cx="3101130" cy="397221"/>
          </a:xfrm>
          <a:prstGeom prst="rect">
            <a:avLst/>
          </a:prstGeom>
        </p:spPr>
        <p:txBody>
          <a:bodyPr anchor="t" rtlCol="false" tIns="0" lIns="0" bIns="0" rIns="0">
            <a:spAutoFit/>
          </a:bodyPr>
          <a:lstStyle/>
          <a:p>
            <a:pPr algn="l">
              <a:lnSpc>
                <a:spcPts val="2999"/>
              </a:lnSpc>
            </a:pPr>
            <a:r>
              <a:rPr lang="en-US" sz="2437" b="true">
                <a:solidFill>
                  <a:srgbClr val="443728"/>
                </a:solidFill>
                <a:latin typeface="Crimson Pro Bold"/>
                <a:ea typeface="Crimson Pro Bold"/>
                <a:cs typeface="Crimson Pro Bold"/>
                <a:sym typeface="Crimson Pro Bold"/>
              </a:rPr>
              <a:t>Backend Framework</a:t>
            </a:r>
          </a:p>
        </p:txBody>
      </p:sp>
      <p:sp>
        <p:nvSpPr>
          <p:cNvPr name="TextBox 10" id="10"/>
          <p:cNvSpPr txBox="true"/>
          <p:nvPr/>
        </p:nvSpPr>
        <p:spPr>
          <a:xfrm rot="0">
            <a:off x="992238" y="6752034"/>
            <a:ext cx="5227739" cy="1846955"/>
          </a:xfrm>
          <a:prstGeom prst="rect">
            <a:avLst/>
          </a:prstGeom>
        </p:spPr>
        <p:txBody>
          <a:bodyPr anchor="t" rtlCol="false" tIns="0" lIns="0" bIns="0" rIns="0">
            <a:spAutoFit/>
          </a:bodyPr>
          <a:lstStyle/>
          <a:p>
            <a:pPr algn="l" marL="292199" indent="-146100" lvl="1">
              <a:lnSpc>
                <a:spcPts val="3125"/>
              </a:lnSpc>
              <a:buFont typeface="Arial"/>
              <a:buChar char="•"/>
            </a:pPr>
            <a:r>
              <a:rPr lang="en-US" sz="1937">
                <a:solidFill>
                  <a:srgbClr val="443728"/>
                </a:solidFill>
                <a:latin typeface="Open Sans"/>
                <a:ea typeface="Open Sans"/>
                <a:cs typeface="Open Sans"/>
                <a:sym typeface="Open Sans"/>
              </a:rPr>
              <a:t>FastAPI for high-performance API</a:t>
            </a:r>
          </a:p>
          <a:p>
            <a:pPr algn="l" marL="292199" indent="-146100" lvl="1">
              <a:lnSpc>
                <a:spcPts val="3125"/>
              </a:lnSpc>
              <a:buFont typeface="Arial"/>
              <a:buChar char="•"/>
            </a:pPr>
            <a:r>
              <a:rPr lang="en-US" sz="1937">
                <a:solidFill>
                  <a:srgbClr val="443728"/>
                </a:solidFill>
                <a:latin typeface="Open Sans"/>
                <a:ea typeface="Open Sans"/>
                <a:cs typeface="Open Sans"/>
                <a:sym typeface="Open Sans"/>
              </a:rPr>
              <a:t>WebSockets for real-time connections</a:t>
            </a:r>
          </a:p>
          <a:p>
            <a:pPr algn="l" marL="292199" indent="-146100" lvl="1">
              <a:lnSpc>
                <a:spcPts val="3125"/>
              </a:lnSpc>
              <a:buFont typeface="Arial"/>
              <a:buChar char="•"/>
            </a:pPr>
            <a:r>
              <a:rPr lang="en-US" sz="1937">
                <a:solidFill>
                  <a:srgbClr val="443728"/>
                </a:solidFill>
                <a:latin typeface="Open Sans"/>
                <a:ea typeface="Open Sans"/>
                <a:cs typeface="Open Sans"/>
                <a:sym typeface="Open Sans"/>
              </a:rPr>
              <a:t>SQLAlchemy ORM for database operations</a:t>
            </a:r>
          </a:p>
        </p:txBody>
      </p:sp>
      <p:grpSp>
        <p:nvGrpSpPr>
          <p:cNvPr name="Group 11" id="11"/>
          <p:cNvGrpSpPr/>
          <p:nvPr/>
        </p:nvGrpSpPr>
        <p:grpSpPr>
          <a:xfrm rot="0">
            <a:off x="6529978" y="2959151"/>
            <a:ext cx="3032074" cy="3032074"/>
            <a:chOff x="0" y="0"/>
            <a:chExt cx="4042766" cy="4042766"/>
          </a:xfrm>
        </p:grpSpPr>
        <p:sp>
          <p:nvSpPr>
            <p:cNvPr name="Freeform 12" id="12" descr="preencoded.png"/>
            <p:cNvSpPr/>
            <p:nvPr/>
          </p:nvSpPr>
          <p:spPr>
            <a:xfrm flipH="false" flipV="false" rot="0">
              <a:off x="0" y="0"/>
              <a:ext cx="4042791" cy="4042791"/>
            </a:xfrm>
            <a:custGeom>
              <a:avLst/>
              <a:gdLst/>
              <a:ahLst/>
              <a:cxnLst/>
              <a:rect r="r" b="b" t="t" l="l"/>
              <a:pathLst>
                <a:path h="4042791" w="4042791">
                  <a:moveTo>
                    <a:pt x="0" y="0"/>
                  </a:moveTo>
                  <a:lnTo>
                    <a:pt x="4042791" y="0"/>
                  </a:lnTo>
                  <a:lnTo>
                    <a:pt x="4042791" y="4042791"/>
                  </a:lnTo>
                  <a:lnTo>
                    <a:pt x="0" y="4042791"/>
                  </a:lnTo>
                  <a:lnTo>
                    <a:pt x="0" y="0"/>
                  </a:lnTo>
                  <a:close/>
                </a:path>
              </a:pathLst>
            </a:custGeom>
            <a:blipFill>
              <a:blip r:embed="rId4"/>
              <a:stretch>
                <a:fillRect l="0" t="0" r="0" b="0"/>
              </a:stretch>
            </a:blipFill>
          </p:spPr>
        </p:sp>
      </p:grpSp>
      <p:sp>
        <p:nvSpPr>
          <p:cNvPr name="TextBox 13" id="13"/>
          <p:cNvSpPr txBox="true"/>
          <p:nvPr/>
        </p:nvSpPr>
        <p:spPr>
          <a:xfrm rot="0">
            <a:off x="6529978" y="6291710"/>
            <a:ext cx="3101130" cy="397221"/>
          </a:xfrm>
          <a:prstGeom prst="rect">
            <a:avLst/>
          </a:prstGeom>
        </p:spPr>
        <p:txBody>
          <a:bodyPr anchor="t" rtlCol="false" tIns="0" lIns="0" bIns="0" rIns="0">
            <a:spAutoFit/>
          </a:bodyPr>
          <a:lstStyle/>
          <a:p>
            <a:pPr algn="l">
              <a:lnSpc>
                <a:spcPts val="2999"/>
              </a:lnSpc>
            </a:pPr>
            <a:r>
              <a:rPr lang="en-US" sz="2437" b="true">
                <a:solidFill>
                  <a:srgbClr val="443728"/>
                </a:solidFill>
                <a:latin typeface="Crimson Pro Bold"/>
                <a:ea typeface="Crimson Pro Bold"/>
                <a:cs typeface="Crimson Pro Bold"/>
                <a:sym typeface="Crimson Pro Bold"/>
              </a:rPr>
              <a:t>Frontend Framework</a:t>
            </a:r>
          </a:p>
        </p:txBody>
      </p:sp>
      <p:sp>
        <p:nvSpPr>
          <p:cNvPr name="TextBox 14" id="14"/>
          <p:cNvSpPr txBox="true"/>
          <p:nvPr/>
        </p:nvSpPr>
        <p:spPr>
          <a:xfrm rot="0">
            <a:off x="6529978" y="6752034"/>
            <a:ext cx="5227882" cy="1450029"/>
          </a:xfrm>
          <a:prstGeom prst="rect">
            <a:avLst/>
          </a:prstGeom>
        </p:spPr>
        <p:txBody>
          <a:bodyPr anchor="t" rtlCol="false" tIns="0" lIns="0" bIns="0" rIns="0">
            <a:spAutoFit/>
          </a:bodyPr>
          <a:lstStyle/>
          <a:p>
            <a:pPr algn="l" marL="292199" indent="-146100" lvl="1">
              <a:lnSpc>
                <a:spcPts val="3125"/>
              </a:lnSpc>
              <a:buFont typeface="Arial"/>
              <a:buChar char="•"/>
            </a:pPr>
            <a:r>
              <a:rPr lang="en-US" sz="1937">
                <a:solidFill>
                  <a:srgbClr val="443728"/>
                </a:solidFill>
                <a:latin typeface="Open Sans"/>
                <a:ea typeface="Open Sans"/>
                <a:cs typeface="Open Sans"/>
                <a:sym typeface="Open Sans"/>
              </a:rPr>
              <a:t>React with Create React App</a:t>
            </a:r>
          </a:p>
          <a:p>
            <a:pPr algn="l" marL="292199" indent="-146100" lvl="1">
              <a:lnSpc>
                <a:spcPts val="3125"/>
              </a:lnSpc>
              <a:buFont typeface="Arial"/>
              <a:buChar char="•"/>
            </a:pPr>
            <a:r>
              <a:rPr lang="en-US" sz="1937">
                <a:solidFill>
                  <a:srgbClr val="443728"/>
                </a:solidFill>
                <a:latin typeface="Open Sans"/>
                <a:ea typeface="Open Sans"/>
                <a:cs typeface="Open Sans"/>
                <a:sym typeface="Open Sans"/>
              </a:rPr>
              <a:t>WebSocket API integration</a:t>
            </a:r>
          </a:p>
          <a:p>
            <a:pPr algn="l" marL="292199" indent="-146100" lvl="1">
              <a:lnSpc>
                <a:spcPts val="3125"/>
              </a:lnSpc>
              <a:buFont typeface="Arial"/>
              <a:buChar char="•"/>
            </a:pPr>
            <a:r>
              <a:rPr lang="en-US" sz="1937">
                <a:solidFill>
                  <a:srgbClr val="443728"/>
                </a:solidFill>
                <a:latin typeface="Open Sans"/>
                <a:ea typeface="Open Sans"/>
                <a:cs typeface="Open Sans"/>
                <a:sym typeface="Open Sans"/>
              </a:rPr>
              <a:t>REST API consumption</a:t>
            </a:r>
          </a:p>
        </p:txBody>
      </p:sp>
      <p:grpSp>
        <p:nvGrpSpPr>
          <p:cNvPr name="Group 15" id="15"/>
          <p:cNvGrpSpPr/>
          <p:nvPr/>
        </p:nvGrpSpPr>
        <p:grpSpPr>
          <a:xfrm rot="0">
            <a:off x="12067880" y="2959151"/>
            <a:ext cx="3032074" cy="3032074"/>
            <a:chOff x="0" y="0"/>
            <a:chExt cx="4042766" cy="4042766"/>
          </a:xfrm>
        </p:grpSpPr>
        <p:sp>
          <p:nvSpPr>
            <p:cNvPr name="Freeform 16" id="16" descr="preencoded.png"/>
            <p:cNvSpPr/>
            <p:nvPr/>
          </p:nvSpPr>
          <p:spPr>
            <a:xfrm flipH="false" flipV="false" rot="0">
              <a:off x="0" y="0"/>
              <a:ext cx="4042791" cy="4042791"/>
            </a:xfrm>
            <a:custGeom>
              <a:avLst/>
              <a:gdLst/>
              <a:ahLst/>
              <a:cxnLst/>
              <a:rect r="r" b="b" t="t" l="l"/>
              <a:pathLst>
                <a:path h="4042791" w="4042791">
                  <a:moveTo>
                    <a:pt x="0" y="0"/>
                  </a:moveTo>
                  <a:lnTo>
                    <a:pt x="4042791" y="0"/>
                  </a:lnTo>
                  <a:lnTo>
                    <a:pt x="4042791" y="4042791"/>
                  </a:lnTo>
                  <a:lnTo>
                    <a:pt x="0" y="4042791"/>
                  </a:lnTo>
                  <a:lnTo>
                    <a:pt x="0" y="0"/>
                  </a:lnTo>
                  <a:close/>
                </a:path>
              </a:pathLst>
            </a:custGeom>
            <a:blipFill>
              <a:blip r:embed="rId5"/>
              <a:stretch>
                <a:fillRect l="0" t="0" r="0" b="0"/>
              </a:stretch>
            </a:blipFill>
          </p:spPr>
        </p:sp>
      </p:grpSp>
      <p:sp>
        <p:nvSpPr>
          <p:cNvPr name="TextBox 17" id="17"/>
          <p:cNvSpPr txBox="true"/>
          <p:nvPr/>
        </p:nvSpPr>
        <p:spPr>
          <a:xfrm rot="0">
            <a:off x="12067880" y="6291710"/>
            <a:ext cx="3101130" cy="397221"/>
          </a:xfrm>
          <a:prstGeom prst="rect">
            <a:avLst/>
          </a:prstGeom>
        </p:spPr>
        <p:txBody>
          <a:bodyPr anchor="t" rtlCol="false" tIns="0" lIns="0" bIns="0" rIns="0">
            <a:spAutoFit/>
          </a:bodyPr>
          <a:lstStyle/>
          <a:p>
            <a:pPr algn="l">
              <a:lnSpc>
                <a:spcPts val="2999"/>
              </a:lnSpc>
            </a:pPr>
            <a:r>
              <a:rPr lang="en-US" sz="2437" b="true">
                <a:solidFill>
                  <a:srgbClr val="443728"/>
                </a:solidFill>
                <a:latin typeface="Crimson Pro Bold"/>
                <a:ea typeface="Crimson Pro Bold"/>
                <a:cs typeface="Crimson Pro Bold"/>
                <a:sym typeface="Crimson Pro Bold"/>
              </a:rPr>
              <a:t>Data &amp; Security</a:t>
            </a:r>
          </a:p>
        </p:txBody>
      </p:sp>
      <p:sp>
        <p:nvSpPr>
          <p:cNvPr name="TextBox 18" id="18"/>
          <p:cNvSpPr txBox="true"/>
          <p:nvPr/>
        </p:nvSpPr>
        <p:spPr>
          <a:xfrm rot="0">
            <a:off x="12067880" y="6752034"/>
            <a:ext cx="5227882" cy="1450029"/>
          </a:xfrm>
          <a:prstGeom prst="rect">
            <a:avLst/>
          </a:prstGeom>
        </p:spPr>
        <p:txBody>
          <a:bodyPr anchor="t" rtlCol="false" tIns="0" lIns="0" bIns="0" rIns="0">
            <a:spAutoFit/>
          </a:bodyPr>
          <a:lstStyle/>
          <a:p>
            <a:pPr algn="l" marL="292199" indent="-146100" lvl="1">
              <a:lnSpc>
                <a:spcPts val="3125"/>
              </a:lnSpc>
              <a:buFont typeface="Arial"/>
              <a:buChar char="•"/>
            </a:pPr>
            <a:r>
              <a:rPr lang="en-US" sz="1937">
                <a:solidFill>
                  <a:srgbClr val="443728"/>
                </a:solidFill>
                <a:latin typeface="Open Sans"/>
                <a:ea typeface="Open Sans"/>
                <a:cs typeface="Open Sans"/>
                <a:sym typeface="Open Sans"/>
              </a:rPr>
              <a:t>SQLite database for persistence</a:t>
            </a:r>
          </a:p>
          <a:p>
            <a:pPr algn="l" marL="292199" indent="-146100" lvl="1">
              <a:lnSpc>
                <a:spcPts val="3125"/>
              </a:lnSpc>
              <a:buFont typeface="Arial"/>
              <a:buChar char="•"/>
            </a:pPr>
            <a:r>
              <a:rPr lang="en-US" sz="1937">
                <a:solidFill>
                  <a:srgbClr val="443728"/>
                </a:solidFill>
                <a:latin typeface="Open Sans"/>
                <a:ea typeface="Open Sans"/>
                <a:cs typeface="Open Sans"/>
                <a:sym typeface="Open Sans"/>
              </a:rPr>
              <a:t>JWT for authentication tokens</a:t>
            </a:r>
          </a:p>
          <a:p>
            <a:pPr algn="l" marL="292199" indent="-146100" lvl="1">
              <a:lnSpc>
                <a:spcPts val="3125"/>
              </a:lnSpc>
              <a:buFont typeface="Arial"/>
              <a:buChar char="•"/>
            </a:pPr>
            <a:r>
              <a:rPr lang="en-US" sz="1937">
                <a:solidFill>
                  <a:srgbClr val="443728"/>
                </a:solidFill>
                <a:latin typeface="Open Sans"/>
                <a:ea typeface="Open Sans"/>
                <a:cs typeface="Open Sans"/>
                <a:sym typeface="Open Sans"/>
              </a:rPr>
              <a:t>bcrypt for password hashing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EDE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CFA"/>
            </a:solidFill>
          </p:spPr>
        </p:sp>
      </p:grpSp>
      <p:grpSp>
        <p:nvGrpSpPr>
          <p:cNvPr name="Group 6" id="6"/>
          <p:cNvGrpSpPr/>
          <p:nvPr/>
        </p:nvGrpSpPr>
        <p:grpSpPr>
          <a:xfrm rot="0">
            <a:off x="969464" y="568376"/>
            <a:ext cx="1699174" cy="396030"/>
            <a:chOff x="0" y="0"/>
            <a:chExt cx="2265566" cy="528041"/>
          </a:xfrm>
        </p:grpSpPr>
        <p:sp>
          <p:nvSpPr>
            <p:cNvPr name="Freeform 7" id="7"/>
            <p:cNvSpPr/>
            <p:nvPr/>
          </p:nvSpPr>
          <p:spPr>
            <a:xfrm flipH="false" flipV="false" rot="0">
              <a:off x="0" y="0"/>
              <a:ext cx="2265680" cy="528066"/>
            </a:xfrm>
            <a:custGeom>
              <a:avLst/>
              <a:gdLst/>
              <a:ahLst/>
              <a:cxnLst/>
              <a:rect r="r" b="b" t="t" l="l"/>
              <a:pathLst>
                <a:path h="528066" w="2265680">
                  <a:moveTo>
                    <a:pt x="0" y="99187"/>
                  </a:moveTo>
                  <a:cubicBezTo>
                    <a:pt x="0" y="44323"/>
                    <a:pt x="45339" y="0"/>
                    <a:pt x="100965" y="0"/>
                  </a:cubicBezTo>
                  <a:lnTo>
                    <a:pt x="2164715" y="0"/>
                  </a:lnTo>
                  <a:lnTo>
                    <a:pt x="2164715" y="6350"/>
                  </a:lnTo>
                  <a:lnTo>
                    <a:pt x="2164715" y="0"/>
                  </a:lnTo>
                  <a:cubicBezTo>
                    <a:pt x="2220341" y="0"/>
                    <a:pt x="2265680" y="44323"/>
                    <a:pt x="2265680" y="99187"/>
                  </a:cubicBezTo>
                  <a:lnTo>
                    <a:pt x="2259330" y="99187"/>
                  </a:lnTo>
                  <a:lnTo>
                    <a:pt x="2265680" y="99187"/>
                  </a:lnTo>
                  <a:lnTo>
                    <a:pt x="2265680" y="428879"/>
                  </a:lnTo>
                  <a:lnTo>
                    <a:pt x="2259330" y="428879"/>
                  </a:lnTo>
                  <a:lnTo>
                    <a:pt x="2265680" y="428879"/>
                  </a:lnTo>
                  <a:cubicBezTo>
                    <a:pt x="2265680" y="483743"/>
                    <a:pt x="2220341" y="528066"/>
                    <a:pt x="2164715" y="528066"/>
                  </a:cubicBezTo>
                  <a:lnTo>
                    <a:pt x="2164715" y="521716"/>
                  </a:lnTo>
                  <a:lnTo>
                    <a:pt x="2164715" y="528066"/>
                  </a:lnTo>
                  <a:lnTo>
                    <a:pt x="100965" y="528066"/>
                  </a:lnTo>
                  <a:lnTo>
                    <a:pt x="100965" y="521716"/>
                  </a:lnTo>
                  <a:lnTo>
                    <a:pt x="100965" y="528066"/>
                  </a:lnTo>
                  <a:cubicBezTo>
                    <a:pt x="45339" y="528066"/>
                    <a:pt x="0" y="483743"/>
                    <a:pt x="0" y="428879"/>
                  </a:cubicBezTo>
                  <a:lnTo>
                    <a:pt x="0" y="99187"/>
                  </a:lnTo>
                  <a:lnTo>
                    <a:pt x="6350" y="99187"/>
                  </a:lnTo>
                  <a:lnTo>
                    <a:pt x="0" y="99187"/>
                  </a:lnTo>
                  <a:moveTo>
                    <a:pt x="12700" y="99187"/>
                  </a:moveTo>
                  <a:lnTo>
                    <a:pt x="12700" y="428879"/>
                  </a:lnTo>
                  <a:lnTo>
                    <a:pt x="6350" y="428879"/>
                  </a:lnTo>
                  <a:lnTo>
                    <a:pt x="12700" y="428879"/>
                  </a:lnTo>
                  <a:cubicBezTo>
                    <a:pt x="12700" y="476504"/>
                    <a:pt x="52070" y="515366"/>
                    <a:pt x="100965" y="515366"/>
                  </a:cubicBezTo>
                  <a:lnTo>
                    <a:pt x="2164715" y="515366"/>
                  </a:lnTo>
                  <a:cubicBezTo>
                    <a:pt x="2213610" y="515366"/>
                    <a:pt x="2252980" y="476504"/>
                    <a:pt x="2252980" y="428879"/>
                  </a:cubicBezTo>
                  <a:lnTo>
                    <a:pt x="2252980" y="99187"/>
                  </a:lnTo>
                  <a:cubicBezTo>
                    <a:pt x="2252980" y="51562"/>
                    <a:pt x="2213610" y="12700"/>
                    <a:pt x="2164715" y="12700"/>
                  </a:cubicBezTo>
                  <a:lnTo>
                    <a:pt x="100965" y="12700"/>
                  </a:lnTo>
                  <a:lnTo>
                    <a:pt x="100965" y="6350"/>
                  </a:lnTo>
                  <a:lnTo>
                    <a:pt x="100965" y="12700"/>
                  </a:lnTo>
                  <a:cubicBezTo>
                    <a:pt x="52070" y="12700"/>
                    <a:pt x="12700" y="51562"/>
                    <a:pt x="12700" y="99187"/>
                  </a:cubicBezTo>
                  <a:close/>
                </a:path>
              </a:pathLst>
            </a:custGeom>
            <a:solidFill>
              <a:srgbClr val="835E54"/>
            </a:solidFill>
          </p:spPr>
        </p:sp>
      </p:grpSp>
      <p:sp>
        <p:nvSpPr>
          <p:cNvPr name="Freeform 8" id="8" descr="preencoded.png"/>
          <p:cNvSpPr/>
          <p:nvPr/>
        </p:nvSpPr>
        <p:spPr>
          <a:xfrm flipH="false" flipV="false" rot="0">
            <a:off x="1108024" y="683571"/>
            <a:ext cx="165649" cy="165649"/>
          </a:xfrm>
          <a:custGeom>
            <a:avLst/>
            <a:gdLst/>
            <a:ahLst/>
            <a:cxnLst/>
            <a:rect r="r" b="b" t="t" l="l"/>
            <a:pathLst>
              <a:path h="165649" w="165649">
                <a:moveTo>
                  <a:pt x="0" y="0"/>
                </a:moveTo>
                <a:lnTo>
                  <a:pt x="165649" y="0"/>
                </a:lnTo>
                <a:lnTo>
                  <a:pt x="165649" y="165649"/>
                </a:lnTo>
                <a:lnTo>
                  <a:pt x="0" y="1656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356417" y="606628"/>
            <a:ext cx="1173661" cy="281435"/>
          </a:xfrm>
          <a:prstGeom prst="rect">
            <a:avLst/>
          </a:prstGeom>
        </p:spPr>
        <p:txBody>
          <a:bodyPr anchor="t" rtlCol="false" tIns="0" lIns="0" bIns="0" rIns="0">
            <a:spAutoFit/>
          </a:bodyPr>
          <a:lstStyle/>
          <a:p>
            <a:pPr algn="l">
              <a:lnSpc>
                <a:spcPts val="1874"/>
              </a:lnSpc>
            </a:pPr>
            <a:r>
              <a:rPr lang="en-US" sz="1249">
                <a:solidFill>
                  <a:srgbClr val="835E54"/>
                </a:solidFill>
                <a:latin typeface="Open Sans"/>
                <a:ea typeface="Open Sans"/>
                <a:cs typeface="Open Sans"/>
                <a:sym typeface="Open Sans"/>
              </a:rPr>
              <a:t>ARCHITECTURE</a:t>
            </a:r>
          </a:p>
        </p:txBody>
      </p:sp>
      <p:sp>
        <p:nvSpPr>
          <p:cNvPr name="TextBox 10" id="10"/>
          <p:cNvSpPr txBox="true"/>
          <p:nvPr/>
        </p:nvSpPr>
        <p:spPr>
          <a:xfrm rot="0">
            <a:off x="974227" y="1000277"/>
            <a:ext cx="5180114" cy="676123"/>
          </a:xfrm>
          <a:prstGeom prst="rect">
            <a:avLst/>
          </a:prstGeom>
        </p:spPr>
        <p:txBody>
          <a:bodyPr anchor="t" rtlCol="false" tIns="0" lIns="0" bIns="0" rIns="0">
            <a:spAutoFit/>
          </a:bodyPr>
          <a:lstStyle/>
          <a:p>
            <a:pPr algn="l">
              <a:lnSpc>
                <a:spcPts val="5062"/>
              </a:lnSpc>
            </a:pPr>
            <a:r>
              <a:rPr lang="en-US" sz="4062" b="true">
                <a:solidFill>
                  <a:srgbClr val="443728"/>
                </a:solidFill>
                <a:latin typeface="Crimson Pro Bold"/>
                <a:ea typeface="Crimson Pro Bold"/>
                <a:cs typeface="Crimson Pro Bold"/>
                <a:sym typeface="Crimson Pro Bold"/>
              </a:rPr>
              <a:t>System Architecture</a:t>
            </a:r>
          </a:p>
        </p:txBody>
      </p:sp>
      <p:sp>
        <p:nvSpPr>
          <p:cNvPr name="TextBox 11" id="11"/>
          <p:cNvSpPr txBox="true"/>
          <p:nvPr/>
        </p:nvSpPr>
        <p:spPr>
          <a:xfrm rot="0">
            <a:off x="974227" y="1897856"/>
            <a:ext cx="16339547" cy="646214"/>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The application employs a hybrid architecture combining REST APIs for authentication and WebSocket connections for real-time messaging. This design separates stateless HTTP operations from stateful WebSocket sessions, optimising both security and performance.</a:t>
            </a:r>
          </a:p>
        </p:txBody>
      </p:sp>
      <p:grpSp>
        <p:nvGrpSpPr>
          <p:cNvPr name="Group 12" id="12"/>
          <p:cNvGrpSpPr/>
          <p:nvPr/>
        </p:nvGrpSpPr>
        <p:grpSpPr>
          <a:xfrm rot="0">
            <a:off x="1004297" y="2738733"/>
            <a:ext cx="16279263" cy="6172200"/>
            <a:chOff x="0" y="0"/>
            <a:chExt cx="21705684" cy="8229600"/>
          </a:xfrm>
        </p:grpSpPr>
        <p:sp>
          <p:nvSpPr>
            <p:cNvPr name="Freeform 13" id="13" descr="preencoded.png"/>
            <p:cNvSpPr/>
            <p:nvPr/>
          </p:nvSpPr>
          <p:spPr>
            <a:xfrm flipH="false" flipV="false" rot="0">
              <a:off x="0" y="0"/>
              <a:ext cx="21705697" cy="8229600"/>
            </a:xfrm>
            <a:custGeom>
              <a:avLst/>
              <a:gdLst/>
              <a:ahLst/>
              <a:cxnLst/>
              <a:rect r="r" b="b" t="t" l="l"/>
              <a:pathLst>
                <a:path h="8229600" w="21705697">
                  <a:moveTo>
                    <a:pt x="0" y="0"/>
                  </a:moveTo>
                  <a:lnTo>
                    <a:pt x="21705697" y="0"/>
                  </a:lnTo>
                  <a:lnTo>
                    <a:pt x="21705697" y="8229600"/>
                  </a:lnTo>
                  <a:lnTo>
                    <a:pt x="0" y="8229600"/>
                  </a:lnTo>
                  <a:lnTo>
                    <a:pt x="0" y="0"/>
                  </a:lnTo>
                  <a:close/>
                </a:path>
              </a:pathLst>
            </a:custGeom>
            <a:blipFill>
              <a:blip r:embed="rId5"/>
              <a:stretch>
                <a:fillRect l="0" t="-3" r="0" b="-3"/>
              </a:stretch>
            </a:blipFill>
          </p:spPr>
        </p:sp>
      </p:grpSp>
      <p:sp>
        <p:nvSpPr>
          <p:cNvPr name="TextBox 14" id="14"/>
          <p:cNvSpPr txBox="true"/>
          <p:nvPr/>
        </p:nvSpPr>
        <p:spPr>
          <a:xfrm rot="0">
            <a:off x="1603372" y="6378769"/>
            <a:ext cx="3676317" cy="478593"/>
          </a:xfrm>
          <a:prstGeom prst="rect">
            <a:avLst/>
          </a:prstGeom>
        </p:spPr>
        <p:txBody>
          <a:bodyPr anchor="t" rtlCol="false" tIns="0" lIns="0" bIns="0" rIns="0">
            <a:spAutoFit/>
          </a:bodyPr>
          <a:lstStyle/>
          <a:p>
            <a:pPr algn="r">
              <a:lnSpc>
                <a:spcPts val="3562"/>
              </a:lnSpc>
            </a:pPr>
            <a:r>
              <a:rPr lang="en-US" sz="2874" b="true">
                <a:solidFill>
                  <a:srgbClr val="443728"/>
                </a:solidFill>
                <a:latin typeface="Crimson Pro Bold"/>
                <a:ea typeface="Crimson Pro Bold"/>
                <a:cs typeface="Crimson Pro Bold"/>
                <a:sym typeface="Crimson Pro Bold"/>
              </a:rPr>
              <a:t>SQLite Database</a:t>
            </a:r>
          </a:p>
        </p:txBody>
      </p:sp>
      <p:sp>
        <p:nvSpPr>
          <p:cNvPr name="TextBox 15" id="15"/>
          <p:cNvSpPr txBox="true"/>
          <p:nvPr/>
        </p:nvSpPr>
        <p:spPr>
          <a:xfrm rot="0">
            <a:off x="1390964" y="6997598"/>
            <a:ext cx="3888724" cy="664978"/>
          </a:xfrm>
          <a:prstGeom prst="rect">
            <a:avLst/>
          </a:prstGeom>
        </p:spPr>
        <p:txBody>
          <a:bodyPr anchor="t" rtlCol="false" tIns="0" lIns="0" bIns="0" rIns="0">
            <a:spAutoFit/>
          </a:bodyPr>
          <a:lstStyle/>
          <a:p>
            <a:pPr algn="r">
              <a:lnSpc>
                <a:spcPts val="2625"/>
              </a:lnSpc>
            </a:pPr>
            <a:r>
              <a:rPr lang="en-US" sz="2312">
                <a:solidFill>
                  <a:srgbClr val="443728"/>
                </a:solidFill>
                <a:latin typeface="Open Sans"/>
                <a:ea typeface="Open Sans"/>
                <a:cs typeface="Open Sans"/>
                <a:sym typeface="Open Sans"/>
              </a:rPr>
              <a:t>Stores persistent data and session state.</a:t>
            </a:r>
          </a:p>
        </p:txBody>
      </p:sp>
      <p:sp>
        <p:nvSpPr>
          <p:cNvPr name="TextBox 16" id="16"/>
          <p:cNvSpPr txBox="true"/>
          <p:nvPr/>
        </p:nvSpPr>
        <p:spPr>
          <a:xfrm rot="0">
            <a:off x="13008131" y="5038954"/>
            <a:ext cx="3676317" cy="478593"/>
          </a:xfrm>
          <a:prstGeom prst="rect">
            <a:avLst/>
          </a:prstGeom>
        </p:spPr>
        <p:txBody>
          <a:bodyPr anchor="t" rtlCol="false" tIns="0" lIns="0" bIns="0" rIns="0">
            <a:spAutoFit/>
          </a:bodyPr>
          <a:lstStyle/>
          <a:p>
            <a:pPr algn="l">
              <a:lnSpc>
                <a:spcPts val="3562"/>
              </a:lnSpc>
            </a:pPr>
            <a:r>
              <a:rPr lang="en-US" sz="2874" b="true">
                <a:solidFill>
                  <a:srgbClr val="443728"/>
                </a:solidFill>
                <a:latin typeface="Crimson Pro Bold"/>
                <a:ea typeface="Crimson Pro Bold"/>
                <a:cs typeface="Crimson Pro Bold"/>
                <a:sym typeface="Crimson Pro Bold"/>
              </a:rPr>
              <a:t>FastAPI Backend</a:t>
            </a:r>
          </a:p>
        </p:txBody>
      </p:sp>
      <p:sp>
        <p:nvSpPr>
          <p:cNvPr name="TextBox 17" id="17"/>
          <p:cNvSpPr txBox="true"/>
          <p:nvPr/>
        </p:nvSpPr>
        <p:spPr>
          <a:xfrm rot="0">
            <a:off x="13008131" y="5657783"/>
            <a:ext cx="3888724" cy="1002230"/>
          </a:xfrm>
          <a:prstGeom prst="rect">
            <a:avLst/>
          </a:prstGeom>
        </p:spPr>
        <p:txBody>
          <a:bodyPr anchor="t" rtlCol="false" tIns="0" lIns="0" bIns="0" rIns="0">
            <a:spAutoFit/>
          </a:bodyPr>
          <a:lstStyle/>
          <a:p>
            <a:pPr algn="l">
              <a:lnSpc>
                <a:spcPts val="2625"/>
              </a:lnSpc>
            </a:pPr>
            <a:r>
              <a:rPr lang="en-US" sz="2312">
                <a:solidFill>
                  <a:srgbClr val="443728"/>
                </a:solidFill>
                <a:latin typeface="Open Sans"/>
                <a:ea typeface="Open Sans"/>
                <a:cs typeface="Open Sans"/>
                <a:sym typeface="Open Sans"/>
              </a:rPr>
              <a:t>Hosts REST API and manages WebSocket connections.</a:t>
            </a:r>
          </a:p>
        </p:txBody>
      </p:sp>
      <p:sp>
        <p:nvSpPr>
          <p:cNvPr name="TextBox 18" id="18"/>
          <p:cNvSpPr txBox="true"/>
          <p:nvPr/>
        </p:nvSpPr>
        <p:spPr>
          <a:xfrm rot="0">
            <a:off x="1668732" y="3633788"/>
            <a:ext cx="3676317" cy="478593"/>
          </a:xfrm>
          <a:prstGeom prst="rect">
            <a:avLst/>
          </a:prstGeom>
        </p:spPr>
        <p:txBody>
          <a:bodyPr anchor="t" rtlCol="false" tIns="0" lIns="0" bIns="0" rIns="0">
            <a:spAutoFit/>
          </a:bodyPr>
          <a:lstStyle/>
          <a:p>
            <a:pPr algn="r">
              <a:lnSpc>
                <a:spcPts val="3562"/>
              </a:lnSpc>
            </a:pPr>
            <a:r>
              <a:rPr lang="en-US" sz="2874" b="true">
                <a:solidFill>
                  <a:srgbClr val="443728"/>
                </a:solidFill>
                <a:latin typeface="Crimson Pro Bold"/>
                <a:ea typeface="Crimson Pro Bold"/>
                <a:cs typeface="Crimson Pro Bold"/>
                <a:sym typeface="Crimson Pro Bold"/>
              </a:rPr>
              <a:t>React Frontend</a:t>
            </a:r>
          </a:p>
        </p:txBody>
      </p:sp>
      <p:sp>
        <p:nvSpPr>
          <p:cNvPr name="TextBox 19" id="19"/>
          <p:cNvSpPr txBox="true"/>
          <p:nvPr/>
        </p:nvSpPr>
        <p:spPr>
          <a:xfrm rot="0">
            <a:off x="1456315" y="4252617"/>
            <a:ext cx="3888724" cy="664978"/>
          </a:xfrm>
          <a:prstGeom prst="rect">
            <a:avLst/>
          </a:prstGeom>
        </p:spPr>
        <p:txBody>
          <a:bodyPr anchor="t" rtlCol="false" tIns="0" lIns="0" bIns="0" rIns="0">
            <a:spAutoFit/>
          </a:bodyPr>
          <a:lstStyle/>
          <a:p>
            <a:pPr algn="r">
              <a:lnSpc>
                <a:spcPts val="2625"/>
              </a:lnSpc>
            </a:pPr>
            <a:r>
              <a:rPr lang="en-US" sz="2312">
                <a:solidFill>
                  <a:srgbClr val="443728"/>
                </a:solidFill>
                <a:latin typeface="Open Sans"/>
                <a:ea typeface="Open Sans"/>
                <a:cs typeface="Open Sans"/>
                <a:sym typeface="Open Sans"/>
              </a:rPr>
              <a:t>User interface handling UI and WebSocket client.</a:t>
            </a:r>
          </a:p>
        </p:txBody>
      </p:sp>
      <p:sp>
        <p:nvSpPr>
          <p:cNvPr name="TextBox 20" id="20"/>
          <p:cNvSpPr txBox="true"/>
          <p:nvPr/>
        </p:nvSpPr>
        <p:spPr>
          <a:xfrm rot="0">
            <a:off x="974227" y="9067505"/>
            <a:ext cx="16339547" cy="646214"/>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The modular backend design ensures clear separation between authentication logic, message handling, and data persistence, enabling independent scaling and maintenance of each component.</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EDE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CFA"/>
            </a:solidFill>
          </p:spPr>
        </p:sp>
      </p:grpSp>
      <p:sp>
        <p:nvSpPr>
          <p:cNvPr name="TextBox 6" id="6"/>
          <p:cNvSpPr txBox="true"/>
          <p:nvPr/>
        </p:nvSpPr>
        <p:spPr>
          <a:xfrm rot="0">
            <a:off x="909790" y="1131684"/>
            <a:ext cx="5220891" cy="690715"/>
          </a:xfrm>
          <a:prstGeom prst="rect">
            <a:avLst/>
          </a:prstGeom>
        </p:spPr>
        <p:txBody>
          <a:bodyPr anchor="t" rtlCol="false" tIns="0" lIns="0" bIns="0" rIns="0">
            <a:spAutoFit/>
          </a:bodyPr>
          <a:lstStyle/>
          <a:p>
            <a:pPr algn="l">
              <a:lnSpc>
                <a:spcPts val="5125"/>
              </a:lnSpc>
            </a:pPr>
            <a:r>
              <a:rPr lang="en-US" sz="4062" b="true">
                <a:solidFill>
                  <a:srgbClr val="443728"/>
                </a:solidFill>
                <a:latin typeface="Crimson Pro Bold"/>
                <a:ea typeface="Crimson Pro Bold"/>
                <a:cs typeface="Crimson Pro Bold"/>
                <a:sym typeface="Crimson Pro Bold"/>
              </a:rPr>
              <a:t>Database Design</a:t>
            </a:r>
          </a:p>
        </p:txBody>
      </p:sp>
      <p:sp>
        <p:nvSpPr>
          <p:cNvPr name="TextBox 7" id="7"/>
          <p:cNvSpPr txBox="true"/>
          <p:nvPr/>
        </p:nvSpPr>
        <p:spPr>
          <a:xfrm rot="0">
            <a:off x="909790" y="2233165"/>
            <a:ext cx="2610441" cy="354806"/>
          </a:xfrm>
          <a:prstGeom prst="rect">
            <a:avLst/>
          </a:prstGeom>
        </p:spPr>
        <p:txBody>
          <a:bodyPr anchor="t" rtlCol="false" tIns="0" lIns="0" bIns="0" rIns="0">
            <a:spAutoFit/>
          </a:bodyPr>
          <a:lstStyle/>
          <a:p>
            <a:pPr algn="l">
              <a:lnSpc>
                <a:spcPts val="2562"/>
              </a:lnSpc>
            </a:pPr>
            <a:r>
              <a:rPr lang="en-US" sz="2000" b="true">
                <a:solidFill>
                  <a:srgbClr val="443728"/>
                </a:solidFill>
                <a:latin typeface="Crimson Pro Bold"/>
                <a:ea typeface="Crimson Pro Bold"/>
                <a:cs typeface="Crimson Pro Bold"/>
                <a:sym typeface="Crimson Pro Bold"/>
              </a:rPr>
              <a:t>User Table</a:t>
            </a:r>
          </a:p>
        </p:txBody>
      </p:sp>
      <p:grpSp>
        <p:nvGrpSpPr>
          <p:cNvPr name="Group 8" id="8"/>
          <p:cNvGrpSpPr/>
          <p:nvPr/>
        </p:nvGrpSpPr>
        <p:grpSpPr>
          <a:xfrm rot="0">
            <a:off x="905027" y="2780852"/>
            <a:ext cx="7989094" cy="2178253"/>
            <a:chOff x="0" y="0"/>
            <a:chExt cx="10652125" cy="2904338"/>
          </a:xfrm>
        </p:grpSpPr>
        <p:sp>
          <p:nvSpPr>
            <p:cNvPr name="Freeform 9" id="9"/>
            <p:cNvSpPr/>
            <p:nvPr/>
          </p:nvSpPr>
          <p:spPr>
            <a:xfrm flipH="false" flipV="false" rot="0">
              <a:off x="0" y="0"/>
              <a:ext cx="10652125" cy="2904363"/>
            </a:xfrm>
            <a:custGeom>
              <a:avLst/>
              <a:gdLst/>
              <a:ahLst/>
              <a:cxnLst/>
              <a:rect r="r" b="b" t="t" l="l"/>
              <a:pathLst>
                <a:path h="2904363" w="10652125">
                  <a:moveTo>
                    <a:pt x="0" y="123317"/>
                  </a:moveTo>
                  <a:cubicBezTo>
                    <a:pt x="0" y="55118"/>
                    <a:pt x="55372" y="0"/>
                    <a:pt x="123698" y="0"/>
                  </a:cubicBezTo>
                  <a:lnTo>
                    <a:pt x="10528427" y="0"/>
                  </a:lnTo>
                  <a:lnTo>
                    <a:pt x="10528427" y="6350"/>
                  </a:lnTo>
                  <a:lnTo>
                    <a:pt x="10528427" y="0"/>
                  </a:lnTo>
                  <a:cubicBezTo>
                    <a:pt x="10596753" y="0"/>
                    <a:pt x="10652125" y="55118"/>
                    <a:pt x="10652125" y="123317"/>
                  </a:cubicBezTo>
                  <a:lnTo>
                    <a:pt x="10645775" y="123317"/>
                  </a:lnTo>
                  <a:lnTo>
                    <a:pt x="10652125" y="123317"/>
                  </a:lnTo>
                  <a:lnTo>
                    <a:pt x="10652125" y="2781046"/>
                  </a:lnTo>
                  <a:lnTo>
                    <a:pt x="10645775" y="2781046"/>
                  </a:lnTo>
                  <a:lnTo>
                    <a:pt x="10652125" y="2781046"/>
                  </a:lnTo>
                  <a:cubicBezTo>
                    <a:pt x="10652125" y="2849118"/>
                    <a:pt x="10596753" y="2904363"/>
                    <a:pt x="10528427" y="2904363"/>
                  </a:cubicBezTo>
                  <a:lnTo>
                    <a:pt x="10528427" y="2898013"/>
                  </a:lnTo>
                  <a:lnTo>
                    <a:pt x="10528427" y="2904363"/>
                  </a:lnTo>
                  <a:lnTo>
                    <a:pt x="123698" y="2904363"/>
                  </a:lnTo>
                  <a:lnTo>
                    <a:pt x="123698" y="2898013"/>
                  </a:lnTo>
                  <a:lnTo>
                    <a:pt x="123698" y="2904363"/>
                  </a:lnTo>
                  <a:cubicBezTo>
                    <a:pt x="55372" y="2904363"/>
                    <a:pt x="0" y="2849245"/>
                    <a:pt x="0" y="2781046"/>
                  </a:cubicBezTo>
                  <a:lnTo>
                    <a:pt x="0" y="123317"/>
                  </a:lnTo>
                  <a:lnTo>
                    <a:pt x="6350" y="123317"/>
                  </a:lnTo>
                  <a:lnTo>
                    <a:pt x="0" y="123317"/>
                  </a:lnTo>
                  <a:moveTo>
                    <a:pt x="12700" y="123317"/>
                  </a:moveTo>
                  <a:lnTo>
                    <a:pt x="12700" y="2781046"/>
                  </a:lnTo>
                  <a:lnTo>
                    <a:pt x="6350" y="2781046"/>
                  </a:lnTo>
                  <a:lnTo>
                    <a:pt x="12700" y="2781046"/>
                  </a:lnTo>
                  <a:cubicBezTo>
                    <a:pt x="12700" y="2842133"/>
                    <a:pt x="62357" y="2891663"/>
                    <a:pt x="123698" y="2891663"/>
                  </a:cubicBezTo>
                  <a:lnTo>
                    <a:pt x="10528427" y="2891663"/>
                  </a:lnTo>
                  <a:cubicBezTo>
                    <a:pt x="10589768" y="2891663"/>
                    <a:pt x="10639425" y="2842133"/>
                    <a:pt x="10639425" y="2781046"/>
                  </a:cubicBezTo>
                  <a:lnTo>
                    <a:pt x="10639425" y="123317"/>
                  </a:lnTo>
                  <a:cubicBezTo>
                    <a:pt x="10639425" y="62230"/>
                    <a:pt x="10589768" y="12700"/>
                    <a:pt x="10528427" y="12700"/>
                  </a:cubicBezTo>
                  <a:lnTo>
                    <a:pt x="123698" y="12700"/>
                  </a:lnTo>
                  <a:lnTo>
                    <a:pt x="123698" y="6350"/>
                  </a:lnTo>
                  <a:lnTo>
                    <a:pt x="123698" y="12700"/>
                  </a:lnTo>
                  <a:cubicBezTo>
                    <a:pt x="62357" y="12700"/>
                    <a:pt x="12700" y="62230"/>
                    <a:pt x="12700" y="123317"/>
                  </a:cubicBezTo>
                  <a:close/>
                </a:path>
              </a:pathLst>
            </a:custGeom>
            <a:solidFill>
              <a:srgbClr val="000000">
                <a:alpha val="392"/>
              </a:srgbClr>
            </a:solidFill>
          </p:spPr>
        </p:sp>
      </p:grpSp>
      <p:grpSp>
        <p:nvGrpSpPr>
          <p:cNvPr name="Group 10" id="10"/>
          <p:cNvGrpSpPr/>
          <p:nvPr/>
        </p:nvGrpSpPr>
        <p:grpSpPr>
          <a:xfrm rot="0">
            <a:off x="919315" y="2795140"/>
            <a:ext cx="7959623" cy="537420"/>
            <a:chOff x="0" y="0"/>
            <a:chExt cx="10612831" cy="716559"/>
          </a:xfrm>
        </p:grpSpPr>
        <p:sp>
          <p:nvSpPr>
            <p:cNvPr name="Freeform 11" id="11"/>
            <p:cNvSpPr/>
            <p:nvPr/>
          </p:nvSpPr>
          <p:spPr>
            <a:xfrm flipH="false" flipV="false" rot="0">
              <a:off x="0" y="0"/>
              <a:ext cx="10612882" cy="716534"/>
            </a:xfrm>
            <a:custGeom>
              <a:avLst/>
              <a:gdLst/>
              <a:ahLst/>
              <a:cxnLst/>
              <a:rect r="r" b="b" t="t" l="l"/>
              <a:pathLst>
                <a:path h="716534" w="10612882">
                  <a:moveTo>
                    <a:pt x="0" y="0"/>
                  </a:moveTo>
                  <a:lnTo>
                    <a:pt x="10612882" y="0"/>
                  </a:lnTo>
                  <a:lnTo>
                    <a:pt x="10612882" y="716534"/>
                  </a:lnTo>
                  <a:lnTo>
                    <a:pt x="0" y="716534"/>
                  </a:lnTo>
                  <a:close/>
                </a:path>
              </a:pathLst>
            </a:custGeom>
            <a:solidFill>
              <a:srgbClr val="FFFFFF">
                <a:alpha val="0"/>
              </a:srgbClr>
            </a:solidFill>
          </p:spPr>
        </p:sp>
      </p:grpSp>
      <p:sp>
        <p:nvSpPr>
          <p:cNvPr name="TextBox 12" id="12"/>
          <p:cNvSpPr txBox="true"/>
          <p:nvPr/>
        </p:nvSpPr>
        <p:spPr>
          <a:xfrm rot="0">
            <a:off x="1129160" y="2871940"/>
            <a:ext cx="2230488" cy="345729"/>
          </a:xfrm>
          <a:prstGeom prst="rect">
            <a:avLst/>
          </a:prstGeom>
        </p:spPr>
        <p:txBody>
          <a:bodyPr anchor="t" rtlCol="false" tIns="0" lIns="0" bIns="0" rIns="0">
            <a:spAutoFit/>
          </a:bodyPr>
          <a:lstStyle/>
          <a:p>
            <a:pPr algn="l">
              <a:lnSpc>
                <a:spcPts val="2375"/>
              </a:lnSpc>
            </a:pPr>
            <a:r>
              <a:rPr lang="en-US" sz="1625" b="true">
                <a:solidFill>
                  <a:srgbClr val="443728"/>
                </a:solidFill>
                <a:latin typeface="Open Sans Bold"/>
                <a:ea typeface="Open Sans Bold"/>
                <a:cs typeface="Open Sans Bold"/>
                <a:sym typeface="Open Sans Bold"/>
              </a:rPr>
              <a:t>Field</a:t>
            </a:r>
          </a:p>
        </p:txBody>
      </p:sp>
      <p:sp>
        <p:nvSpPr>
          <p:cNvPr name="TextBox 13" id="13"/>
          <p:cNvSpPr txBox="true"/>
          <p:nvPr/>
        </p:nvSpPr>
        <p:spPr>
          <a:xfrm rot="0">
            <a:off x="3786778" y="2871940"/>
            <a:ext cx="2225726" cy="345729"/>
          </a:xfrm>
          <a:prstGeom prst="rect">
            <a:avLst/>
          </a:prstGeom>
        </p:spPr>
        <p:txBody>
          <a:bodyPr anchor="t" rtlCol="false" tIns="0" lIns="0" bIns="0" rIns="0">
            <a:spAutoFit/>
          </a:bodyPr>
          <a:lstStyle/>
          <a:p>
            <a:pPr algn="l">
              <a:lnSpc>
                <a:spcPts val="2375"/>
              </a:lnSpc>
            </a:pPr>
            <a:r>
              <a:rPr lang="en-US" sz="1625" b="true">
                <a:solidFill>
                  <a:srgbClr val="443728"/>
                </a:solidFill>
                <a:latin typeface="Open Sans Bold"/>
                <a:ea typeface="Open Sans Bold"/>
                <a:cs typeface="Open Sans Bold"/>
                <a:sym typeface="Open Sans Bold"/>
              </a:rPr>
              <a:t>Type</a:t>
            </a:r>
          </a:p>
        </p:txBody>
      </p:sp>
      <p:sp>
        <p:nvSpPr>
          <p:cNvPr name="TextBox 14" id="14"/>
          <p:cNvSpPr txBox="true"/>
          <p:nvPr/>
        </p:nvSpPr>
        <p:spPr>
          <a:xfrm rot="0">
            <a:off x="6439643" y="2871940"/>
            <a:ext cx="2230488" cy="345729"/>
          </a:xfrm>
          <a:prstGeom prst="rect">
            <a:avLst/>
          </a:prstGeom>
        </p:spPr>
        <p:txBody>
          <a:bodyPr anchor="t" rtlCol="false" tIns="0" lIns="0" bIns="0" rIns="0">
            <a:spAutoFit/>
          </a:bodyPr>
          <a:lstStyle/>
          <a:p>
            <a:pPr algn="l">
              <a:lnSpc>
                <a:spcPts val="2375"/>
              </a:lnSpc>
            </a:pPr>
            <a:r>
              <a:rPr lang="en-US" sz="1625" b="true">
                <a:solidFill>
                  <a:srgbClr val="443728"/>
                </a:solidFill>
                <a:latin typeface="Open Sans Bold"/>
                <a:ea typeface="Open Sans Bold"/>
                <a:cs typeface="Open Sans Bold"/>
                <a:sym typeface="Open Sans Bold"/>
              </a:rPr>
              <a:t>Purpose</a:t>
            </a:r>
          </a:p>
        </p:txBody>
      </p:sp>
      <p:grpSp>
        <p:nvGrpSpPr>
          <p:cNvPr name="Group 15" id="15"/>
          <p:cNvGrpSpPr/>
          <p:nvPr/>
        </p:nvGrpSpPr>
        <p:grpSpPr>
          <a:xfrm rot="0">
            <a:off x="919315" y="3332559"/>
            <a:ext cx="7959623" cy="537420"/>
            <a:chOff x="0" y="0"/>
            <a:chExt cx="10612831" cy="716559"/>
          </a:xfrm>
        </p:grpSpPr>
        <p:sp>
          <p:nvSpPr>
            <p:cNvPr name="Freeform 16" id="16"/>
            <p:cNvSpPr/>
            <p:nvPr/>
          </p:nvSpPr>
          <p:spPr>
            <a:xfrm flipH="false" flipV="false" rot="0">
              <a:off x="0" y="0"/>
              <a:ext cx="10612882" cy="716534"/>
            </a:xfrm>
            <a:custGeom>
              <a:avLst/>
              <a:gdLst/>
              <a:ahLst/>
              <a:cxnLst/>
              <a:rect r="r" b="b" t="t" l="l"/>
              <a:pathLst>
                <a:path h="716534" w="10612882">
                  <a:moveTo>
                    <a:pt x="0" y="0"/>
                  </a:moveTo>
                  <a:lnTo>
                    <a:pt x="10612882" y="0"/>
                  </a:lnTo>
                  <a:lnTo>
                    <a:pt x="10612882" y="716534"/>
                  </a:lnTo>
                  <a:lnTo>
                    <a:pt x="0" y="716534"/>
                  </a:lnTo>
                  <a:close/>
                </a:path>
              </a:pathLst>
            </a:custGeom>
            <a:solidFill>
              <a:srgbClr val="000000">
                <a:alpha val="0"/>
              </a:srgbClr>
            </a:solidFill>
          </p:spPr>
        </p:sp>
      </p:grpSp>
      <p:sp>
        <p:nvSpPr>
          <p:cNvPr name="TextBox 17" id="17"/>
          <p:cNvSpPr txBox="true"/>
          <p:nvPr/>
        </p:nvSpPr>
        <p:spPr>
          <a:xfrm rot="0">
            <a:off x="1129160" y="3409359"/>
            <a:ext cx="2230488"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id</a:t>
            </a:r>
          </a:p>
        </p:txBody>
      </p:sp>
      <p:sp>
        <p:nvSpPr>
          <p:cNvPr name="TextBox 18" id="18"/>
          <p:cNvSpPr txBox="true"/>
          <p:nvPr/>
        </p:nvSpPr>
        <p:spPr>
          <a:xfrm rot="0">
            <a:off x="3786778" y="3409359"/>
            <a:ext cx="2225726"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Integer</a:t>
            </a:r>
          </a:p>
        </p:txBody>
      </p:sp>
      <p:sp>
        <p:nvSpPr>
          <p:cNvPr name="TextBox 19" id="19"/>
          <p:cNvSpPr txBox="true"/>
          <p:nvPr/>
        </p:nvSpPr>
        <p:spPr>
          <a:xfrm rot="0">
            <a:off x="6439643" y="3409359"/>
            <a:ext cx="2230488"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Primary key</a:t>
            </a:r>
          </a:p>
        </p:txBody>
      </p:sp>
      <p:grpSp>
        <p:nvGrpSpPr>
          <p:cNvPr name="Group 20" id="20"/>
          <p:cNvGrpSpPr/>
          <p:nvPr/>
        </p:nvGrpSpPr>
        <p:grpSpPr>
          <a:xfrm rot="0">
            <a:off x="919315" y="3869979"/>
            <a:ext cx="7959623" cy="537420"/>
            <a:chOff x="0" y="0"/>
            <a:chExt cx="10612831" cy="716559"/>
          </a:xfrm>
        </p:grpSpPr>
        <p:sp>
          <p:nvSpPr>
            <p:cNvPr name="Freeform 21" id="21"/>
            <p:cNvSpPr/>
            <p:nvPr/>
          </p:nvSpPr>
          <p:spPr>
            <a:xfrm flipH="false" flipV="false" rot="0">
              <a:off x="0" y="0"/>
              <a:ext cx="10612882" cy="716534"/>
            </a:xfrm>
            <a:custGeom>
              <a:avLst/>
              <a:gdLst/>
              <a:ahLst/>
              <a:cxnLst/>
              <a:rect r="r" b="b" t="t" l="l"/>
              <a:pathLst>
                <a:path h="716534" w="10612882">
                  <a:moveTo>
                    <a:pt x="0" y="0"/>
                  </a:moveTo>
                  <a:lnTo>
                    <a:pt x="10612882" y="0"/>
                  </a:lnTo>
                  <a:lnTo>
                    <a:pt x="10612882" y="716534"/>
                  </a:lnTo>
                  <a:lnTo>
                    <a:pt x="0" y="716534"/>
                  </a:lnTo>
                  <a:close/>
                </a:path>
              </a:pathLst>
            </a:custGeom>
            <a:solidFill>
              <a:srgbClr val="FFFFFF">
                <a:alpha val="0"/>
              </a:srgbClr>
            </a:solidFill>
          </p:spPr>
        </p:sp>
      </p:grpSp>
      <p:sp>
        <p:nvSpPr>
          <p:cNvPr name="TextBox 22" id="22"/>
          <p:cNvSpPr txBox="true"/>
          <p:nvPr/>
        </p:nvSpPr>
        <p:spPr>
          <a:xfrm rot="0">
            <a:off x="1129160" y="3946769"/>
            <a:ext cx="2230488"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username</a:t>
            </a:r>
          </a:p>
        </p:txBody>
      </p:sp>
      <p:sp>
        <p:nvSpPr>
          <p:cNvPr name="TextBox 23" id="23"/>
          <p:cNvSpPr txBox="true"/>
          <p:nvPr/>
        </p:nvSpPr>
        <p:spPr>
          <a:xfrm rot="0">
            <a:off x="3786778" y="3946769"/>
            <a:ext cx="2225726"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String</a:t>
            </a:r>
          </a:p>
        </p:txBody>
      </p:sp>
      <p:sp>
        <p:nvSpPr>
          <p:cNvPr name="TextBox 24" id="24"/>
          <p:cNvSpPr txBox="true"/>
          <p:nvPr/>
        </p:nvSpPr>
        <p:spPr>
          <a:xfrm rot="0">
            <a:off x="6439643" y="3946769"/>
            <a:ext cx="2230488"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Unique identifier</a:t>
            </a:r>
          </a:p>
        </p:txBody>
      </p:sp>
      <p:grpSp>
        <p:nvGrpSpPr>
          <p:cNvPr name="Group 25" id="25"/>
          <p:cNvGrpSpPr/>
          <p:nvPr/>
        </p:nvGrpSpPr>
        <p:grpSpPr>
          <a:xfrm rot="0">
            <a:off x="919315" y="4407398"/>
            <a:ext cx="7959623" cy="537420"/>
            <a:chOff x="0" y="0"/>
            <a:chExt cx="10612831" cy="716559"/>
          </a:xfrm>
        </p:grpSpPr>
        <p:sp>
          <p:nvSpPr>
            <p:cNvPr name="Freeform 26" id="26"/>
            <p:cNvSpPr/>
            <p:nvPr/>
          </p:nvSpPr>
          <p:spPr>
            <a:xfrm flipH="false" flipV="false" rot="0">
              <a:off x="0" y="0"/>
              <a:ext cx="10612882" cy="716534"/>
            </a:xfrm>
            <a:custGeom>
              <a:avLst/>
              <a:gdLst/>
              <a:ahLst/>
              <a:cxnLst/>
              <a:rect r="r" b="b" t="t" l="l"/>
              <a:pathLst>
                <a:path h="716534" w="10612882">
                  <a:moveTo>
                    <a:pt x="0" y="0"/>
                  </a:moveTo>
                  <a:lnTo>
                    <a:pt x="10612882" y="0"/>
                  </a:lnTo>
                  <a:lnTo>
                    <a:pt x="10612882" y="716534"/>
                  </a:lnTo>
                  <a:lnTo>
                    <a:pt x="0" y="716534"/>
                  </a:lnTo>
                  <a:close/>
                </a:path>
              </a:pathLst>
            </a:custGeom>
            <a:solidFill>
              <a:srgbClr val="000000">
                <a:alpha val="0"/>
              </a:srgbClr>
            </a:solidFill>
          </p:spPr>
        </p:sp>
      </p:grpSp>
      <p:sp>
        <p:nvSpPr>
          <p:cNvPr name="TextBox 27" id="27"/>
          <p:cNvSpPr txBox="true"/>
          <p:nvPr/>
        </p:nvSpPr>
        <p:spPr>
          <a:xfrm rot="0">
            <a:off x="1129160" y="4484189"/>
            <a:ext cx="2230488"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hashed_password</a:t>
            </a:r>
          </a:p>
        </p:txBody>
      </p:sp>
      <p:sp>
        <p:nvSpPr>
          <p:cNvPr name="TextBox 28" id="28"/>
          <p:cNvSpPr txBox="true"/>
          <p:nvPr/>
        </p:nvSpPr>
        <p:spPr>
          <a:xfrm rot="0">
            <a:off x="3786778" y="4484189"/>
            <a:ext cx="2225726"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String</a:t>
            </a:r>
          </a:p>
        </p:txBody>
      </p:sp>
      <p:sp>
        <p:nvSpPr>
          <p:cNvPr name="TextBox 29" id="29"/>
          <p:cNvSpPr txBox="true"/>
          <p:nvPr/>
        </p:nvSpPr>
        <p:spPr>
          <a:xfrm rot="0">
            <a:off x="6439643" y="4484189"/>
            <a:ext cx="2230488"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bcrypt hash</a:t>
            </a:r>
          </a:p>
        </p:txBody>
      </p:sp>
      <p:sp>
        <p:nvSpPr>
          <p:cNvPr name="TextBox 30" id="30"/>
          <p:cNvSpPr txBox="true"/>
          <p:nvPr/>
        </p:nvSpPr>
        <p:spPr>
          <a:xfrm rot="0">
            <a:off x="909790" y="5123412"/>
            <a:ext cx="2610441" cy="354806"/>
          </a:xfrm>
          <a:prstGeom prst="rect">
            <a:avLst/>
          </a:prstGeom>
        </p:spPr>
        <p:txBody>
          <a:bodyPr anchor="t" rtlCol="false" tIns="0" lIns="0" bIns="0" rIns="0">
            <a:spAutoFit/>
          </a:bodyPr>
          <a:lstStyle/>
          <a:p>
            <a:pPr algn="l">
              <a:lnSpc>
                <a:spcPts val="2562"/>
              </a:lnSpc>
            </a:pPr>
            <a:r>
              <a:rPr lang="en-US" sz="2000" b="true">
                <a:solidFill>
                  <a:srgbClr val="443728"/>
                </a:solidFill>
                <a:latin typeface="Crimson Pro Bold"/>
                <a:ea typeface="Crimson Pro Bold"/>
                <a:cs typeface="Crimson Pro Bold"/>
                <a:sym typeface="Crimson Pro Bold"/>
              </a:rPr>
              <a:t>Message Table</a:t>
            </a:r>
          </a:p>
        </p:txBody>
      </p:sp>
      <p:grpSp>
        <p:nvGrpSpPr>
          <p:cNvPr name="Group 31" id="31"/>
          <p:cNvGrpSpPr/>
          <p:nvPr/>
        </p:nvGrpSpPr>
        <p:grpSpPr>
          <a:xfrm rot="0">
            <a:off x="905027" y="5671099"/>
            <a:ext cx="7989094" cy="3253083"/>
            <a:chOff x="0" y="0"/>
            <a:chExt cx="10652125" cy="4337444"/>
          </a:xfrm>
        </p:grpSpPr>
        <p:sp>
          <p:nvSpPr>
            <p:cNvPr name="Freeform 32" id="32"/>
            <p:cNvSpPr/>
            <p:nvPr/>
          </p:nvSpPr>
          <p:spPr>
            <a:xfrm flipH="false" flipV="false" rot="0">
              <a:off x="0" y="0"/>
              <a:ext cx="10651998" cy="4337431"/>
            </a:xfrm>
            <a:custGeom>
              <a:avLst/>
              <a:gdLst/>
              <a:ahLst/>
              <a:cxnLst/>
              <a:rect r="r" b="b" t="t" l="l"/>
              <a:pathLst>
                <a:path h="4337431" w="10651998">
                  <a:moveTo>
                    <a:pt x="0" y="123317"/>
                  </a:moveTo>
                  <a:cubicBezTo>
                    <a:pt x="0" y="55245"/>
                    <a:pt x="55245" y="0"/>
                    <a:pt x="123444" y="0"/>
                  </a:cubicBezTo>
                  <a:lnTo>
                    <a:pt x="10528553" y="0"/>
                  </a:lnTo>
                  <a:lnTo>
                    <a:pt x="10528553" y="6350"/>
                  </a:lnTo>
                  <a:lnTo>
                    <a:pt x="10528553" y="0"/>
                  </a:lnTo>
                  <a:cubicBezTo>
                    <a:pt x="10596753" y="0"/>
                    <a:pt x="10651998" y="55245"/>
                    <a:pt x="10651998" y="123317"/>
                  </a:cubicBezTo>
                  <a:lnTo>
                    <a:pt x="10645648" y="123317"/>
                  </a:lnTo>
                  <a:lnTo>
                    <a:pt x="10651998" y="123317"/>
                  </a:lnTo>
                  <a:lnTo>
                    <a:pt x="10651998" y="4214114"/>
                  </a:lnTo>
                  <a:lnTo>
                    <a:pt x="10645648" y="4214114"/>
                  </a:lnTo>
                  <a:lnTo>
                    <a:pt x="10651998" y="4214114"/>
                  </a:lnTo>
                  <a:cubicBezTo>
                    <a:pt x="10651998" y="4282186"/>
                    <a:pt x="10596753" y="4337431"/>
                    <a:pt x="10528553" y="4337431"/>
                  </a:cubicBezTo>
                  <a:lnTo>
                    <a:pt x="10528553" y="4331081"/>
                  </a:lnTo>
                  <a:lnTo>
                    <a:pt x="10528553" y="4337431"/>
                  </a:lnTo>
                  <a:lnTo>
                    <a:pt x="123444" y="4337431"/>
                  </a:lnTo>
                  <a:lnTo>
                    <a:pt x="123444" y="4331081"/>
                  </a:lnTo>
                  <a:lnTo>
                    <a:pt x="123444" y="4337431"/>
                  </a:lnTo>
                  <a:cubicBezTo>
                    <a:pt x="55245" y="4337431"/>
                    <a:pt x="0" y="4282186"/>
                    <a:pt x="0" y="4214114"/>
                  </a:cubicBezTo>
                  <a:lnTo>
                    <a:pt x="0" y="123317"/>
                  </a:lnTo>
                  <a:lnTo>
                    <a:pt x="6350" y="123317"/>
                  </a:lnTo>
                  <a:lnTo>
                    <a:pt x="0" y="123317"/>
                  </a:lnTo>
                  <a:moveTo>
                    <a:pt x="12700" y="123317"/>
                  </a:moveTo>
                  <a:lnTo>
                    <a:pt x="12700" y="4214114"/>
                  </a:lnTo>
                  <a:lnTo>
                    <a:pt x="6350" y="4214114"/>
                  </a:lnTo>
                  <a:lnTo>
                    <a:pt x="12700" y="4214114"/>
                  </a:lnTo>
                  <a:cubicBezTo>
                    <a:pt x="12700" y="4275201"/>
                    <a:pt x="62357" y="4324731"/>
                    <a:pt x="123444" y="4324731"/>
                  </a:cubicBezTo>
                  <a:lnTo>
                    <a:pt x="10528553" y="4324731"/>
                  </a:lnTo>
                  <a:cubicBezTo>
                    <a:pt x="10589768" y="4324731"/>
                    <a:pt x="10639298" y="4275201"/>
                    <a:pt x="10639298" y="4214114"/>
                  </a:cubicBezTo>
                  <a:lnTo>
                    <a:pt x="10639298" y="123317"/>
                  </a:lnTo>
                  <a:cubicBezTo>
                    <a:pt x="10639298" y="62230"/>
                    <a:pt x="10589641" y="12700"/>
                    <a:pt x="10528553" y="12700"/>
                  </a:cubicBezTo>
                  <a:lnTo>
                    <a:pt x="123444" y="12700"/>
                  </a:lnTo>
                  <a:lnTo>
                    <a:pt x="123444" y="6350"/>
                  </a:lnTo>
                  <a:lnTo>
                    <a:pt x="123444" y="12700"/>
                  </a:lnTo>
                  <a:cubicBezTo>
                    <a:pt x="62357" y="12700"/>
                    <a:pt x="12700" y="62230"/>
                    <a:pt x="12700" y="123317"/>
                  </a:cubicBezTo>
                  <a:close/>
                </a:path>
              </a:pathLst>
            </a:custGeom>
            <a:solidFill>
              <a:srgbClr val="000000">
                <a:alpha val="392"/>
              </a:srgbClr>
            </a:solidFill>
          </p:spPr>
        </p:sp>
      </p:grpSp>
      <p:grpSp>
        <p:nvGrpSpPr>
          <p:cNvPr name="Group 33" id="33"/>
          <p:cNvGrpSpPr/>
          <p:nvPr/>
        </p:nvGrpSpPr>
        <p:grpSpPr>
          <a:xfrm rot="0">
            <a:off x="919315" y="5685387"/>
            <a:ext cx="7959623" cy="537420"/>
            <a:chOff x="0" y="0"/>
            <a:chExt cx="10612831" cy="716559"/>
          </a:xfrm>
        </p:grpSpPr>
        <p:sp>
          <p:nvSpPr>
            <p:cNvPr name="Freeform 34" id="34"/>
            <p:cNvSpPr/>
            <p:nvPr/>
          </p:nvSpPr>
          <p:spPr>
            <a:xfrm flipH="false" flipV="false" rot="0">
              <a:off x="0" y="0"/>
              <a:ext cx="10612882" cy="716534"/>
            </a:xfrm>
            <a:custGeom>
              <a:avLst/>
              <a:gdLst/>
              <a:ahLst/>
              <a:cxnLst/>
              <a:rect r="r" b="b" t="t" l="l"/>
              <a:pathLst>
                <a:path h="716534" w="10612882">
                  <a:moveTo>
                    <a:pt x="0" y="0"/>
                  </a:moveTo>
                  <a:lnTo>
                    <a:pt x="10612882" y="0"/>
                  </a:lnTo>
                  <a:lnTo>
                    <a:pt x="10612882" y="716534"/>
                  </a:lnTo>
                  <a:lnTo>
                    <a:pt x="0" y="716534"/>
                  </a:lnTo>
                  <a:close/>
                </a:path>
              </a:pathLst>
            </a:custGeom>
            <a:solidFill>
              <a:srgbClr val="FFFFFF">
                <a:alpha val="0"/>
              </a:srgbClr>
            </a:solidFill>
          </p:spPr>
        </p:sp>
      </p:grpSp>
      <p:sp>
        <p:nvSpPr>
          <p:cNvPr name="TextBox 35" id="35"/>
          <p:cNvSpPr txBox="true"/>
          <p:nvPr/>
        </p:nvSpPr>
        <p:spPr>
          <a:xfrm rot="0">
            <a:off x="1129160" y="5762177"/>
            <a:ext cx="2230488" cy="345729"/>
          </a:xfrm>
          <a:prstGeom prst="rect">
            <a:avLst/>
          </a:prstGeom>
        </p:spPr>
        <p:txBody>
          <a:bodyPr anchor="t" rtlCol="false" tIns="0" lIns="0" bIns="0" rIns="0">
            <a:spAutoFit/>
          </a:bodyPr>
          <a:lstStyle/>
          <a:p>
            <a:pPr algn="l">
              <a:lnSpc>
                <a:spcPts val="2375"/>
              </a:lnSpc>
            </a:pPr>
            <a:r>
              <a:rPr lang="en-US" sz="1625" b="true">
                <a:solidFill>
                  <a:srgbClr val="443728"/>
                </a:solidFill>
                <a:latin typeface="Open Sans Bold"/>
                <a:ea typeface="Open Sans Bold"/>
                <a:cs typeface="Open Sans Bold"/>
                <a:sym typeface="Open Sans Bold"/>
              </a:rPr>
              <a:t>Field</a:t>
            </a:r>
          </a:p>
        </p:txBody>
      </p:sp>
      <p:sp>
        <p:nvSpPr>
          <p:cNvPr name="TextBox 36" id="36"/>
          <p:cNvSpPr txBox="true"/>
          <p:nvPr/>
        </p:nvSpPr>
        <p:spPr>
          <a:xfrm rot="0">
            <a:off x="3786778" y="5762177"/>
            <a:ext cx="2225726" cy="345729"/>
          </a:xfrm>
          <a:prstGeom prst="rect">
            <a:avLst/>
          </a:prstGeom>
        </p:spPr>
        <p:txBody>
          <a:bodyPr anchor="t" rtlCol="false" tIns="0" lIns="0" bIns="0" rIns="0">
            <a:spAutoFit/>
          </a:bodyPr>
          <a:lstStyle/>
          <a:p>
            <a:pPr algn="l">
              <a:lnSpc>
                <a:spcPts val="2375"/>
              </a:lnSpc>
            </a:pPr>
            <a:r>
              <a:rPr lang="en-US" sz="1625" b="true">
                <a:solidFill>
                  <a:srgbClr val="443728"/>
                </a:solidFill>
                <a:latin typeface="Open Sans Bold"/>
                <a:ea typeface="Open Sans Bold"/>
                <a:cs typeface="Open Sans Bold"/>
                <a:sym typeface="Open Sans Bold"/>
              </a:rPr>
              <a:t>Type</a:t>
            </a:r>
          </a:p>
        </p:txBody>
      </p:sp>
      <p:sp>
        <p:nvSpPr>
          <p:cNvPr name="TextBox 37" id="37"/>
          <p:cNvSpPr txBox="true"/>
          <p:nvPr/>
        </p:nvSpPr>
        <p:spPr>
          <a:xfrm rot="0">
            <a:off x="6439643" y="5762177"/>
            <a:ext cx="2230488" cy="345729"/>
          </a:xfrm>
          <a:prstGeom prst="rect">
            <a:avLst/>
          </a:prstGeom>
        </p:spPr>
        <p:txBody>
          <a:bodyPr anchor="t" rtlCol="false" tIns="0" lIns="0" bIns="0" rIns="0">
            <a:spAutoFit/>
          </a:bodyPr>
          <a:lstStyle/>
          <a:p>
            <a:pPr algn="l">
              <a:lnSpc>
                <a:spcPts val="2375"/>
              </a:lnSpc>
            </a:pPr>
            <a:r>
              <a:rPr lang="en-US" sz="1625" b="true">
                <a:solidFill>
                  <a:srgbClr val="443728"/>
                </a:solidFill>
                <a:latin typeface="Open Sans Bold"/>
                <a:ea typeface="Open Sans Bold"/>
                <a:cs typeface="Open Sans Bold"/>
                <a:sym typeface="Open Sans Bold"/>
              </a:rPr>
              <a:t>Purpose</a:t>
            </a:r>
          </a:p>
        </p:txBody>
      </p:sp>
      <p:grpSp>
        <p:nvGrpSpPr>
          <p:cNvPr name="Group 38" id="38"/>
          <p:cNvGrpSpPr/>
          <p:nvPr/>
        </p:nvGrpSpPr>
        <p:grpSpPr>
          <a:xfrm rot="0">
            <a:off x="919315" y="6222797"/>
            <a:ext cx="7959623" cy="537420"/>
            <a:chOff x="0" y="0"/>
            <a:chExt cx="10612831" cy="716559"/>
          </a:xfrm>
        </p:grpSpPr>
        <p:sp>
          <p:nvSpPr>
            <p:cNvPr name="Freeform 39" id="39"/>
            <p:cNvSpPr/>
            <p:nvPr/>
          </p:nvSpPr>
          <p:spPr>
            <a:xfrm flipH="false" flipV="false" rot="0">
              <a:off x="0" y="0"/>
              <a:ext cx="10612882" cy="716534"/>
            </a:xfrm>
            <a:custGeom>
              <a:avLst/>
              <a:gdLst/>
              <a:ahLst/>
              <a:cxnLst/>
              <a:rect r="r" b="b" t="t" l="l"/>
              <a:pathLst>
                <a:path h="716534" w="10612882">
                  <a:moveTo>
                    <a:pt x="0" y="0"/>
                  </a:moveTo>
                  <a:lnTo>
                    <a:pt x="10612882" y="0"/>
                  </a:lnTo>
                  <a:lnTo>
                    <a:pt x="10612882" y="716534"/>
                  </a:lnTo>
                  <a:lnTo>
                    <a:pt x="0" y="716534"/>
                  </a:lnTo>
                  <a:close/>
                </a:path>
              </a:pathLst>
            </a:custGeom>
            <a:solidFill>
              <a:srgbClr val="000000">
                <a:alpha val="0"/>
              </a:srgbClr>
            </a:solidFill>
          </p:spPr>
        </p:sp>
      </p:grpSp>
      <p:sp>
        <p:nvSpPr>
          <p:cNvPr name="TextBox 40" id="40"/>
          <p:cNvSpPr txBox="true"/>
          <p:nvPr/>
        </p:nvSpPr>
        <p:spPr>
          <a:xfrm rot="0">
            <a:off x="1129160" y="6299597"/>
            <a:ext cx="2230488"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id</a:t>
            </a:r>
          </a:p>
        </p:txBody>
      </p:sp>
      <p:sp>
        <p:nvSpPr>
          <p:cNvPr name="TextBox 41" id="41"/>
          <p:cNvSpPr txBox="true"/>
          <p:nvPr/>
        </p:nvSpPr>
        <p:spPr>
          <a:xfrm rot="0">
            <a:off x="3786778" y="6299597"/>
            <a:ext cx="2225726"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Integer</a:t>
            </a:r>
          </a:p>
        </p:txBody>
      </p:sp>
      <p:sp>
        <p:nvSpPr>
          <p:cNvPr name="TextBox 42" id="42"/>
          <p:cNvSpPr txBox="true"/>
          <p:nvPr/>
        </p:nvSpPr>
        <p:spPr>
          <a:xfrm rot="0">
            <a:off x="6439643" y="6299597"/>
            <a:ext cx="2230488"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Primary key</a:t>
            </a:r>
          </a:p>
        </p:txBody>
      </p:sp>
      <p:grpSp>
        <p:nvGrpSpPr>
          <p:cNvPr name="Group 43" id="43"/>
          <p:cNvGrpSpPr/>
          <p:nvPr/>
        </p:nvGrpSpPr>
        <p:grpSpPr>
          <a:xfrm rot="0">
            <a:off x="919315" y="6760216"/>
            <a:ext cx="7959623" cy="537420"/>
            <a:chOff x="0" y="0"/>
            <a:chExt cx="10612831" cy="716559"/>
          </a:xfrm>
        </p:grpSpPr>
        <p:sp>
          <p:nvSpPr>
            <p:cNvPr name="Freeform 44" id="44"/>
            <p:cNvSpPr/>
            <p:nvPr/>
          </p:nvSpPr>
          <p:spPr>
            <a:xfrm flipH="false" flipV="false" rot="0">
              <a:off x="0" y="0"/>
              <a:ext cx="10612882" cy="716534"/>
            </a:xfrm>
            <a:custGeom>
              <a:avLst/>
              <a:gdLst/>
              <a:ahLst/>
              <a:cxnLst/>
              <a:rect r="r" b="b" t="t" l="l"/>
              <a:pathLst>
                <a:path h="716534" w="10612882">
                  <a:moveTo>
                    <a:pt x="0" y="0"/>
                  </a:moveTo>
                  <a:lnTo>
                    <a:pt x="10612882" y="0"/>
                  </a:lnTo>
                  <a:lnTo>
                    <a:pt x="10612882" y="716534"/>
                  </a:lnTo>
                  <a:lnTo>
                    <a:pt x="0" y="716534"/>
                  </a:lnTo>
                  <a:close/>
                </a:path>
              </a:pathLst>
            </a:custGeom>
            <a:solidFill>
              <a:srgbClr val="FFFFFF">
                <a:alpha val="0"/>
              </a:srgbClr>
            </a:solidFill>
          </p:spPr>
        </p:sp>
      </p:grpSp>
      <p:sp>
        <p:nvSpPr>
          <p:cNvPr name="TextBox 45" id="45"/>
          <p:cNvSpPr txBox="true"/>
          <p:nvPr/>
        </p:nvSpPr>
        <p:spPr>
          <a:xfrm rot="0">
            <a:off x="1129160" y="6837016"/>
            <a:ext cx="2230488"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sender_id</a:t>
            </a:r>
          </a:p>
        </p:txBody>
      </p:sp>
      <p:sp>
        <p:nvSpPr>
          <p:cNvPr name="TextBox 46" id="46"/>
          <p:cNvSpPr txBox="true"/>
          <p:nvPr/>
        </p:nvSpPr>
        <p:spPr>
          <a:xfrm rot="0">
            <a:off x="3786778" y="6837016"/>
            <a:ext cx="2225726"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Integer</a:t>
            </a:r>
          </a:p>
        </p:txBody>
      </p:sp>
      <p:sp>
        <p:nvSpPr>
          <p:cNvPr name="TextBox 47" id="47"/>
          <p:cNvSpPr txBox="true"/>
          <p:nvPr/>
        </p:nvSpPr>
        <p:spPr>
          <a:xfrm rot="0">
            <a:off x="6439643" y="6837016"/>
            <a:ext cx="2230488"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Foreign key to User</a:t>
            </a:r>
          </a:p>
        </p:txBody>
      </p:sp>
      <p:grpSp>
        <p:nvGrpSpPr>
          <p:cNvPr name="Group 48" id="48"/>
          <p:cNvGrpSpPr/>
          <p:nvPr/>
        </p:nvGrpSpPr>
        <p:grpSpPr>
          <a:xfrm rot="0">
            <a:off x="919315" y="7297636"/>
            <a:ext cx="7959623" cy="537420"/>
            <a:chOff x="0" y="0"/>
            <a:chExt cx="10612831" cy="716559"/>
          </a:xfrm>
        </p:grpSpPr>
        <p:sp>
          <p:nvSpPr>
            <p:cNvPr name="Freeform 49" id="49"/>
            <p:cNvSpPr/>
            <p:nvPr/>
          </p:nvSpPr>
          <p:spPr>
            <a:xfrm flipH="false" flipV="false" rot="0">
              <a:off x="0" y="0"/>
              <a:ext cx="10612882" cy="716534"/>
            </a:xfrm>
            <a:custGeom>
              <a:avLst/>
              <a:gdLst/>
              <a:ahLst/>
              <a:cxnLst/>
              <a:rect r="r" b="b" t="t" l="l"/>
              <a:pathLst>
                <a:path h="716534" w="10612882">
                  <a:moveTo>
                    <a:pt x="0" y="0"/>
                  </a:moveTo>
                  <a:lnTo>
                    <a:pt x="10612882" y="0"/>
                  </a:lnTo>
                  <a:lnTo>
                    <a:pt x="10612882" y="716534"/>
                  </a:lnTo>
                  <a:lnTo>
                    <a:pt x="0" y="716534"/>
                  </a:lnTo>
                  <a:close/>
                </a:path>
              </a:pathLst>
            </a:custGeom>
            <a:solidFill>
              <a:srgbClr val="000000">
                <a:alpha val="0"/>
              </a:srgbClr>
            </a:solidFill>
          </p:spPr>
        </p:sp>
      </p:grpSp>
      <p:sp>
        <p:nvSpPr>
          <p:cNvPr name="TextBox 50" id="50"/>
          <p:cNvSpPr txBox="true"/>
          <p:nvPr/>
        </p:nvSpPr>
        <p:spPr>
          <a:xfrm rot="0">
            <a:off x="1129160" y="7374436"/>
            <a:ext cx="2230488"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recipient_id</a:t>
            </a:r>
          </a:p>
        </p:txBody>
      </p:sp>
      <p:sp>
        <p:nvSpPr>
          <p:cNvPr name="TextBox 51" id="51"/>
          <p:cNvSpPr txBox="true"/>
          <p:nvPr/>
        </p:nvSpPr>
        <p:spPr>
          <a:xfrm rot="0">
            <a:off x="3786778" y="7374436"/>
            <a:ext cx="2225726"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Integer</a:t>
            </a:r>
          </a:p>
        </p:txBody>
      </p:sp>
      <p:sp>
        <p:nvSpPr>
          <p:cNvPr name="TextBox 52" id="52"/>
          <p:cNvSpPr txBox="true"/>
          <p:nvPr/>
        </p:nvSpPr>
        <p:spPr>
          <a:xfrm rot="0">
            <a:off x="6439643" y="7374436"/>
            <a:ext cx="2230488"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Null for broadcast</a:t>
            </a:r>
          </a:p>
        </p:txBody>
      </p:sp>
      <p:grpSp>
        <p:nvGrpSpPr>
          <p:cNvPr name="Group 53" id="53"/>
          <p:cNvGrpSpPr/>
          <p:nvPr/>
        </p:nvGrpSpPr>
        <p:grpSpPr>
          <a:xfrm rot="0">
            <a:off x="919315" y="7835055"/>
            <a:ext cx="7959623" cy="537420"/>
            <a:chOff x="0" y="0"/>
            <a:chExt cx="10612831" cy="716559"/>
          </a:xfrm>
        </p:grpSpPr>
        <p:sp>
          <p:nvSpPr>
            <p:cNvPr name="Freeform 54" id="54"/>
            <p:cNvSpPr/>
            <p:nvPr/>
          </p:nvSpPr>
          <p:spPr>
            <a:xfrm flipH="false" flipV="false" rot="0">
              <a:off x="0" y="0"/>
              <a:ext cx="10612882" cy="716534"/>
            </a:xfrm>
            <a:custGeom>
              <a:avLst/>
              <a:gdLst/>
              <a:ahLst/>
              <a:cxnLst/>
              <a:rect r="r" b="b" t="t" l="l"/>
              <a:pathLst>
                <a:path h="716534" w="10612882">
                  <a:moveTo>
                    <a:pt x="0" y="0"/>
                  </a:moveTo>
                  <a:lnTo>
                    <a:pt x="10612882" y="0"/>
                  </a:lnTo>
                  <a:lnTo>
                    <a:pt x="10612882" y="716534"/>
                  </a:lnTo>
                  <a:lnTo>
                    <a:pt x="0" y="716534"/>
                  </a:lnTo>
                  <a:close/>
                </a:path>
              </a:pathLst>
            </a:custGeom>
            <a:solidFill>
              <a:srgbClr val="FFFFFF">
                <a:alpha val="0"/>
              </a:srgbClr>
            </a:solidFill>
          </p:spPr>
        </p:sp>
      </p:grpSp>
      <p:sp>
        <p:nvSpPr>
          <p:cNvPr name="TextBox 55" id="55"/>
          <p:cNvSpPr txBox="true"/>
          <p:nvPr/>
        </p:nvSpPr>
        <p:spPr>
          <a:xfrm rot="0">
            <a:off x="1129160" y="7911856"/>
            <a:ext cx="2230488"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content</a:t>
            </a:r>
          </a:p>
        </p:txBody>
      </p:sp>
      <p:sp>
        <p:nvSpPr>
          <p:cNvPr name="TextBox 56" id="56"/>
          <p:cNvSpPr txBox="true"/>
          <p:nvPr/>
        </p:nvSpPr>
        <p:spPr>
          <a:xfrm rot="0">
            <a:off x="3786778" y="7911856"/>
            <a:ext cx="2225726"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Text</a:t>
            </a:r>
          </a:p>
        </p:txBody>
      </p:sp>
      <p:sp>
        <p:nvSpPr>
          <p:cNvPr name="TextBox 57" id="57"/>
          <p:cNvSpPr txBox="true"/>
          <p:nvPr/>
        </p:nvSpPr>
        <p:spPr>
          <a:xfrm rot="0">
            <a:off x="6439643" y="7911856"/>
            <a:ext cx="2230488"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Message body</a:t>
            </a:r>
          </a:p>
        </p:txBody>
      </p:sp>
      <p:grpSp>
        <p:nvGrpSpPr>
          <p:cNvPr name="Group 58" id="58"/>
          <p:cNvGrpSpPr/>
          <p:nvPr/>
        </p:nvGrpSpPr>
        <p:grpSpPr>
          <a:xfrm rot="0">
            <a:off x="919315" y="8372475"/>
            <a:ext cx="7959623" cy="537420"/>
            <a:chOff x="0" y="0"/>
            <a:chExt cx="10612831" cy="716559"/>
          </a:xfrm>
        </p:grpSpPr>
        <p:sp>
          <p:nvSpPr>
            <p:cNvPr name="Freeform 59" id="59"/>
            <p:cNvSpPr/>
            <p:nvPr/>
          </p:nvSpPr>
          <p:spPr>
            <a:xfrm flipH="false" flipV="false" rot="0">
              <a:off x="0" y="0"/>
              <a:ext cx="10612882" cy="716534"/>
            </a:xfrm>
            <a:custGeom>
              <a:avLst/>
              <a:gdLst/>
              <a:ahLst/>
              <a:cxnLst/>
              <a:rect r="r" b="b" t="t" l="l"/>
              <a:pathLst>
                <a:path h="716534" w="10612882">
                  <a:moveTo>
                    <a:pt x="0" y="0"/>
                  </a:moveTo>
                  <a:lnTo>
                    <a:pt x="10612882" y="0"/>
                  </a:lnTo>
                  <a:lnTo>
                    <a:pt x="10612882" y="716534"/>
                  </a:lnTo>
                  <a:lnTo>
                    <a:pt x="0" y="716534"/>
                  </a:lnTo>
                  <a:close/>
                </a:path>
              </a:pathLst>
            </a:custGeom>
            <a:solidFill>
              <a:srgbClr val="000000">
                <a:alpha val="0"/>
              </a:srgbClr>
            </a:solidFill>
          </p:spPr>
        </p:sp>
      </p:grpSp>
      <p:sp>
        <p:nvSpPr>
          <p:cNvPr name="TextBox 60" id="60"/>
          <p:cNvSpPr txBox="true"/>
          <p:nvPr/>
        </p:nvSpPr>
        <p:spPr>
          <a:xfrm rot="0">
            <a:off x="1129160" y="8449266"/>
            <a:ext cx="2230488"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timestamp</a:t>
            </a:r>
          </a:p>
        </p:txBody>
      </p:sp>
      <p:sp>
        <p:nvSpPr>
          <p:cNvPr name="TextBox 61" id="61"/>
          <p:cNvSpPr txBox="true"/>
          <p:nvPr/>
        </p:nvSpPr>
        <p:spPr>
          <a:xfrm rot="0">
            <a:off x="3786778" y="8449266"/>
            <a:ext cx="2225726"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DateTime</a:t>
            </a:r>
          </a:p>
        </p:txBody>
      </p:sp>
      <p:sp>
        <p:nvSpPr>
          <p:cNvPr name="TextBox 62" id="62"/>
          <p:cNvSpPr txBox="true"/>
          <p:nvPr/>
        </p:nvSpPr>
        <p:spPr>
          <a:xfrm rot="0">
            <a:off x="6439643" y="8449266"/>
            <a:ext cx="2230488" cy="345729"/>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Creation time</a:t>
            </a:r>
          </a:p>
        </p:txBody>
      </p:sp>
      <p:sp>
        <p:nvSpPr>
          <p:cNvPr name="TextBox 63" id="63"/>
          <p:cNvSpPr txBox="true"/>
          <p:nvPr/>
        </p:nvSpPr>
        <p:spPr>
          <a:xfrm rot="0">
            <a:off x="9408166" y="2206076"/>
            <a:ext cx="7979569" cy="960987"/>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The database schema implements a simple yet effective relational model. Users and messages are linked through foreign key relationships, enabling efficient queries for chat history retrieval.</a:t>
            </a:r>
          </a:p>
        </p:txBody>
      </p:sp>
      <p:sp>
        <p:nvSpPr>
          <p:cNvPr name="TextBox 64" id="64"/>
          <p:cNvSpPr txBox="true"/>
          <p:nvPr/>
        </p:nvSpPr>
        <p:spPr>
          <a:xfrm rot="0">
            <a:off x="9408166" y="3287163"/>
            <a:ext cx="7979569" cy="960987"/>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The recipient_id field supports both private messaging (when populated with a user ID) and broadcast messaging (when set to null), providing flexibility in message routing without complicating the schema.</a:t>
            </a:r>
          </a:p>
        </p:txBody>
      </p:sp>
      <p:sp>
        <p:nvSpPr>
          <p:cNvPr name="TextBox 65" id="65"/>
          <p:cNvSpPr txBox="true"/>
          <p:nvPr/>
        </p:nvSpPr>
        <p:spPr>
          <a:xfrm rot="0">
            <a:off x="9408166" y="4368251"/>
            <a:ext cx="7979569" cy="653358"/>
          </a:xfrm>
          <a:prstGeom prst="rect">
            <a:avLst/>
          </a:prstGeom>
        </p:spPr>
        <p:txBody>
          <a:bodyPr anchor="t" rtlCol="false" tIns="0" lIns="0" bIns="0" rIns="0">
            <a:spAutoFit/>
          </a:bodyPr>
          <a:lstStyle/>
          <a:p>
            <a:pPr algn="l">
              <a:lnSpc>
                <a:spcPts val="2375"/>
              </a:lnSpc>
            </a:pPr>
            <a:r>
              <a:rPr lang="en-US" sz="1625">
                <a:solidFill>
                  <a:srgbClr val="443728"/>
                </a:solidFill>
                <a:latin typeface="Open Sans"/>
                <a:ea typeface="Open Sans"/>
                <a:cs typeface="Open Sans"/>
                <a:sym typeface="Open Sans"/>
              </a:rPr>
              <a:t>SQLAlchemy ORM abstracts database operations, providing protection against SQL injection attacks whilst maintaining code readability and maintainability.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EDE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CFA"/>
            </a:solidFill>
          </p:spPr>
        </p:sp>
      </p:grpSp>
      <p:grpSp>
        <p:nvGrpSpPr>
          <p:cNvPr name="Group 6" id="6"/>
          <p:cNvGrpSpPr/>
          <p:nvPr/>
        </p:nvGrpSpPr>
        <p:grpSpPr>
          <a:xfrm rot="0">
            <a:off x="0" y="0"/>
            <a:ext cx="18288000" cy="3101130"/>
            <a:chOff x="0" y="0"/>
            <a:chExt cx="24384000" cy="4134841"/>
          </a:xfrm>
        </p:grpSpPr>
        <p:sp>
          <p:nvSpPr>
            <p:cNvPr name="Freeform 7" id="7" descr="preencoded.png"/>
            <p:cNvSpPr/>
            <p:nvPr/>
          </p:nvSpPr>
          <p:spPr>
            <a:xfrm flipH="false" flipV="false" rot="0">
              <a:off x="0" y="0"/>
              <a:ext cx="24384000" cy="4134866"/>
            </a:xfrm>
            <a:custGeom>
              <a:avLst/>
              <a:gdLst/>
              <a:ahLst/>
              <a:cxnLst/>
              <a:rect r="r" b="b" t="t" l="l"/>
              <a:pathLst>
                <a:path h="4134866" w="24384000">
                  <a:moveTo>
                    <a:pt x="0" y="0"/>
                  </a:moveTo>
                  <a:lnTo>
                    <a:pt x="24384000" y="0"/>
                  </a:lnTo>
                  <a:lnTo>
                    <a:pt x="24384000" y="4134866"/>
                  </a:lnTo>
                  <a:lnTo>
                    <a:pt x="0" y="4134866"/>
                  </a:lnTo>
                  <a:lnTo>
                    <a:pt x="0" y="0"/>
                  </a:lnTo>
                  <a:close/>
                </a:path>
              </a:pathLst>
            </a:custGeom>
            <a:blipFill>
              <a:blip r:embed="rId3"/>
              <a:stretch>
                <a:fillRect l="0" t="-64" r="0" b="-64"/>
              </a:stretch>
            </a:blipFill>
          </p:spPr>
        </p:sp>
      </p:grpSp>
      <p:sp>
        <p:nvSpPr>
          <p:cNvPr name="TextBox 8" id="8"/>
          <p:cNvSpPr txBox="true"/>
          <p:nvPr/>
        </p:nvSpPr>
        <p:spPr>
          <a:xfrm rot="0">
            <a:off x="992238" y="4484189"/>
            <a:ext cx="6202261" cy="803672"/>
          </a:xfrm>
          <a:prstGeom prst="rect">
            <a:avLst/>
          </a:prstGeom>
        </p:spPr>
        <p:txBody>
          <a:bodyPr anchor="t" rtlCol="false" tIns="0" lIns="0" bIns="0" rIns="0">
            <a:spAutoFit/>
          </a:bodyPr>
          <a:lstStyle/>
          <a:p>
            <a:pPr algn="l">
              <a:lnSpc>
                <a:spcPts val="6062"/>
              </a:lnSpc>
            </a:pPr>
            <a:r>
              <a:rPr lang="en-US" sz="4875" b="true">
                <a:solidFill>
                  <a:srgbClr val="443728"/>
                </a:solidFill>
                <a:latin typeface="Crimson Pro Bold"/>
                <a:ea typeface="Crimson Pro Bold"/>
                <a:cs typeface="Crimson Pro Bold"/>
                <a:sym typeface="Crimson Pro Bold"/>
              </a:rPr>
              <a:t>Authentication Flow</a:t>
            </a:r>
          </a:p>
        </p:txBody>
      </p:sp>
      <p:grpSp>
        <p:nvGrpSpPr>
          <p:cNvPr name="Group 9" id="9"/>
          <p:cNvGrpSpPr/>
          <p:nvPr/>
        </p:nvGrpSpPr>
        <p:grpSpPr>
          <a:xfrm rot="0">
            <a:off x="992238" y="5659936"/>
            <a:ext cx="5434460" cy="992238"/>
            <a:chOff x="0" y="0"/>
            <a:chExt cx="7245947" cy="1322984"/>
          </a:xfrm>
        </p:grpSpPr>
        <p:sp>
          <p:nvSpPr>
            <p:cNvPr name="Freeform 10" id="10" descr="preencoded.png"/>
            <p:cNvSpPr/>
            <p:nvPr/>
          </p:nvSpPr>
          <p:spPr>
            <a:xfrm flipH="false" flipV="false" rot="0">
              <a:off x="0" y="0"/>
              <a:ext cx="7245985" cy="1322959"/>
            </a:xfrm>
            <a:custGeom>
              <a:avLst/>
              <a:gdLst/>
              <a:ahLst/>
              <a:cxnLst/>
              <a:rect r="r" b="b" t="t" l="l"/>
              <a:pathLst>
                <a:path h="1322959" w="7245985">
                  <a:moveTo>
                    <a:pt x="0" y="0"/>
                  </a:moveTo>
                  <a:lnTo>
                    <a:pt x="7245985" y="0"/>
                  </a:lnTo>
                  <a:lnTo>
                    <a:pt x="7245985" y="1322959"/>
                  </a:lnTo>
                  <a:lnTo>
                    <a:pt x="0" y="1322959"/>
                  </a:lnTo>
                  <a:lnTo>
                    <a:pt x="0" y="0"/>
                  </a:lnTo>
                  <a:close/>
                </a:path>
              </a:pathLst>
            </a:custGeom>
            <a:blipFill>
              <a:blip r:embed="rId4"/>
              <a:stretch>
                <a:fillRect l="-122" t="0" r="-121" b="-1"/>
              </a:stretch>
            </a:blipFill>
          </p:spPr>
        </p:sp>
      </p:grpSp>
      <p:sp>
        <p:nvSpPr>
          <p:cNvPr name="TextBox 11" id="11"/>
          <p:cNvSpPr txBox="true"/>
          <p:nvPr/>
        </p:nvSpPr>
        <p:spPr>
          <a:xfrm rot="0">
            <a:off x="1240184" y="6890595"/>
            <a:ext cx="3101130" cy="397221"/>
          </a:xfrm>
          <a:prstGeom prst="rect">
            <a:avLst/>
          </a:prstGeom>
        </p:spPr>
        <p:txBody>
          <a:bodyPr anchor="t" rtlCol="false" tIns="0" lIns="0" bIns="0" rIns="0">
            <a:spAutoFit/>
          </a:bodyPr>
          <a:lstStyle/>
          <a:p>
            <a:pPr algn="l">
              <a:lnSpc>
                <a:spcPts val="2999"/>
              </a:lnSpc>
            </a:pPr>
            <a:r>
              <a:rPr lang="en-US" sz="2437" b="true">
                <a:solidFill>
                  <a:srgbClr val="443728"/>
                </a:solidFill>
                <a:latin typeface="Crimson Pro Bold"/>
                <a:ea typeface="Crimson Pro Bold"/>
                <a:cs typeface="Crimson Pro Bold"/>
                <a:sym typeface="Crimson Pro Bold"/>
              </a:rPr>
              <a:t>Registration</a:t>
            </a:r>
          </a:p>
        </p:txBody>
      </p:sp>
      <p:sp>
        <p:nvSpPr>
          <p:cNvPr name="TextBox 12" id="12"/>
          <p:cNvSpPr txBox="true"/>
          <p:nvPr/>
        </p:nvSpPr>
        <p:spPr>
          <a:xfrm rot="0">
            <a:off x="1240184" y="7350919"/>
            <a:ext cx="4938560" cy="1276502"/>
          </a:xfrm>
          <a:prstGeom prst="rect">
            <a:avLst/>
          </a:prstGeom>
        </p:spPr>
        <p:txBody>
          <a:bodyPr anchor="t" rtlCol="false" tIns="0" lIns="0" bIns="0" rIns="0">
            <a:spAutoFit/>
          </a:bodyPr>
          <a:lstStyle/>
          <a:p>
            <a:pPr algn="l">
              <a:lnSpc>
                <a:spcPts val="3125"/>
              </a:lnSpc>
            </a:pPr>
            <a:r>
              <a:rPr lang="en-US" sz="1937">
                <a:solidFill>
                  <a:srgbClr val="443728"/>
                </a:solidFill>
                <a:latin typeface="Open Sans"/>
                <a:ea typeface="Open Sans"/>
                <a:cs typeface="Open Sans"/>
                <a:sym typeface="Open Sans"/>
              </a:rPr>
              <a:t>User submits credentials. Backend validates uniqueness, hashes password with bcrypt, stores in database.</a:t>
            </a:r>
          </a:p>
        </p:txBody>
      </p:sp>
      <p:grpSp>
        <p:nvGrpSpPr>
          <p:cNvPr name="Group 13" id="13"/>
          <p:cNvGrpSpPr/>
          <p:nvPr/>
        </p:nvGrpSpPr>
        <p:grpSpPr>
          <a:xfrm rot="0">
            <a:off x="6426698" y="5659936"/>
            <a:ext cx="5434460" cy="992238"/>
            <a:chOff x="0" y="0"/>
            <a:chExt cx="7245947" cy="1322984"/>
          </a:xfrm>
        </p:grpSpPr>
        <p:sp>
          <p:nvSpPr>
            <p:cNvPr name="Freeform 14" id="14" descr="preencoded.png"/>
            <p:cNvSpPr/>
            <p:nvPr/>
          </p:nvSpPr>
          <p:spPr>
            <a:xfrm flipH="false" flipV="false" rot="0">
              <a:off x="0" y="0"/>
              <a:ext cx="7245985" cy="1322959"/>
            </a:xfrm>
            <a:custGeom>
              <a:avLst/>
              <a:gdLst/>
              <a:ahLst/>
              <a:cxnLst/>
              <a:rect r="r" b="b" t="t" l="l"/>
              <a:pathLst>
                <a:path h="1322959" w="7245985">
                  <a:moveTo>
                    <a:pt x="0" y="0"/>
                  </a:moveTo>
                  <a:lnTo>
                    <a:pt x="7245985" y="0"/>
                  </a:lnTo>
                  <a:lnTo>
                    <a:pt x="7245985" y="1322959"/>
                  </a:lnTo>
                  <a:lnTo>
                    <a:pt x="0" y="1322959"/>
                  </a:lnTo>
                  <a:lnTo>
                    <a:pt x="0" y="0"/>
                  </a:lnTo>
                  <a:close/>
                </a:path>
              </a:pathLst>
            </a:custGeom>
            <a:blipFill>
              <a:blip r:embed="rId5"/>
              <a:stretch>
                <a:fillRect l="-122" t="0" r="-121" b="-1"/>
              </a:stretch>
            </a:blipFill>
          </p:spPr>
        </p:sp>
      </p:grpSp>
      <p:sp>
        <p:nvSpPr>
          <p:cNvPr name="TextBox 15" id="15"/>
          <p:cNvSpPr txBox="true"/>
          <p:nvPr/>
        </p:nvSpPr>
        <p:spPr>
          <a:xfrm rot="0">
            <a:off x="6674644" y="6890595"/>
            <a:ext cx="3101130" cy="397221"/>
          </a:xfrm>
          <a:prstGeom prst="rect">
            <a:avLst/>
          </a:prstGeom>
        </p:spPr>
        <p:txBody>
          <a:bodyPr anchor="t" rtlCol="false" tIns="0" lIns="0" bIns="0" rIns="0">
            <a:spAutoFit/>
          </a:bodyPr>
          <a:lstStyle/>
          <a:p>
            <a:pPr algn="l">
              <a:lnSpc>
                <a:spcPts val="2999"/>
              </a:lnSpc>
            </a:pPr>
            <a:r>
              <a:rPr lang="en-US" sz="2437" b="true">
                <a:solidFill>
                  <a:srgbClr val="443728"/>
                </a:solidFill>
                <a:latin typeface="Crimson Pro Bold"/>
                <a:ea typeface="Crimson Pro Bold"/>
                <a:cs typeface="Crimson Pro Bold"/>
                <a:sym typeface="Crimson Pro Bold"/>
              </a:rPr>
              <a:t>Login</a:t>
            </a:r>
          </a:p>
        </p:txBody>
      </p:sp>
      <p:sp>
        <p:nvSpPr>
          <p:cNvPr name="TextBox 16" id="16"/>
          <p:cNvSpPr txBox="true"/>
          <p:nvPr/>
        </p:nvSpPr>
        <p:spPr>
          <a:xfrm rot="0">
            <a:off x="6674644" y="7350919"/>
            <a:ext cx="4938560" cy="1276502"/>
          </a:xfrm>
          <a:prstGeom prst="rect">
            <a:avLst/>
          </a:prstGeom>
        </p:spPr>
        <p:txBody>
          <a:bodyPr anchor="t" rtlCol="false" tIns="0" lIns="0" bIns="0" rIns="0">
            <a:spAutoFit/>
          </a:bodyPr>
          <a:lstStyle/>
          <a:p>
            <a:pPr algn="l">
              <a:lnSpc>
                <a:spcPts val="3125"/>
              </a:lnSpc>
            </a:pPr>
            <a:r>
              <a:rPr lang="en-US" sz="1937">
                <a:solidFill>
                  <a:srgbClr val="443728"/>
                </a:solidFill>
                <a:latin typeface="Open Sans"/>
                <a:ea typeface="Open Sans"/>
                <a:cs typeface="Open Sans"/>
                <a:sym typeface="Open Sans"/>
              </a:rPr>
              <a:t>User provides credentials. System verifies hashed password, generates JWT token with expiration.</a:t>
            </a:r>
          </a:p>
        </p:txBody>
      </p:sp>
      <p:grpSp>
        <p:nvGrpSpPr>
          <p:cNvPr name="Group 17" id="17"/>
          <p:cNvGrpSpPr/>
          <p:nvPr/>
        </p:nvGrpSpPr>
        <p:grpSpPr>
          <a:xfrm rot="0">
            <a:off x="11861159" y="5659936"/>
            <a:ext cx="5434460" cy="992238"/>
            <a:chOff x="0" y="0"/>
            <a:chExt cx="7245947" cy="1322984"/>
          </a:xfrm>
        </p:grpSpPr>
        <p:sp>
          <p:nvSpPr>
            <p:cNvPr name="Freeform 18" id="18" descr="preencoded.png"/>
            <p:cNvSpPr/>
            <p:nvPr/>
          </p:nvSpPr>
          <p:spPr>
            <a:xfrm flipH="false" flipV="false" rot="0">
              <a:off x="0" y="0"/>
              <a:ext cx="7245985" cy="1322959"/>
            </a:xfrm>
            <a:custGeom>
              <a:avLst/>
              <a:gdLst/>
              <a:ahLst/>
              <a:cxnLst/>
              <a:rect r="r" b="b" t="t" l="l"/>
              <a:pathLst>
                <a:path h="1322959" w="7245985">
                  <a:moveTo>
                    <a:pt x="0" y="0"/>
                  </a:moveTo>
                  <a:lnTo>
                    <a:pt x="7245985" y="0"/>
                  </a:lnTo>
                  <a:lnTo>
                    <a:pt x="7245985" y="1322959"/>
                  </a:lnTo>
                  <a:lnTo>
                    <a:pt x="0" y="1322959"/>
                  </a:lnTo>
                  <a:lnTo>
                    <a:pt x="0" y="0"/>
                  </a:lnTo>
                  <a:close/>
                </a:path>
              </a:pathLst>
            </a:custGeom>
            <a:blipFill>
              <a:blip r:embed="rId6"/>
              <a:stretch>
                <a:fillRect l="-122" t="0" r="-121" b="-1"/>
              </a:stretch>
            </a:blipFill>
          </p:spPr>
        </p:sp>
      </p:grpSp>
      <p:sp>
        <p:nvSpPr>
          <p:cNvPr name="TextBox 19" id="19"/>
          <p:cNvSpPr txBox="true"/>
          <p:nvPr/>
        </p:nvSpPr>
        <p:spPr>
          <a:xfrm rot="0">
            <a:off x="12109104" y="6890595"/>
            <a:ext cx="3101130" cy="397221"/>
          </a:xfrm>
          <a:prstGeom prst="rect">
            <a:avLst/>
          </a:prstGeom>
        </p:spPr>
        <p:txBody>
          <a:bodyPr anchor="t" rtlCol="false" tIns="0" lIns="0" bIns="0" rIns="0">
            <a:spAutoFit/>
          </a:bodyPr>
          <a:lstStyle/>
          <a:p>
            <a:pPr algn="l">
              <a:lnSpc>
                <a:spcPts val="2999"/>
              </a:lnSpc>
            </a:pPr>
            <a:r>
              <a:rPr lang="en-US" sz="2437" b="true">
                <a:solidFill>
                  <a:srgbClr val="443728"/>
                </a:solidFill>
                <a:latin typeface="Crimson Pro Bold"/>
                <a:ea typeface="Crimson Pro Bold"/>
                <a:cs typeface="Crimson Pro Bold"/>
                <a:sym typeface="Crimson Pro Bold"/>
              </a:rPr>
              <a:t>Authorization</a:t>
            </a:r>
          </a:p>
        </p:txBody>
      </p:sp>
      <p:sp>
        <p:nvSpPr>
          <p:cNvPr name="TextBox 20" id="20"/>
          <p:cNvSpPr txBox="true"/>
          <p:nvPr/>
        </p:nvSpPr>
        <p:spPr>
          <a:xfrm rot="0">
            <a:off x="12109104" y="7350919"/>
            <a:ext cx="4938560" cy="1276502"/>
          </a:xfrm>
          <a:prstGeom prst="rect">
            <a:avLst/>
          </a:prstGeom>
        </p:spPr>
        <p:txBody>
          <a:bodyPr anchor="t" rtlCol="false" tIns="0" lIns="0" bIns="0" rIns="0">
            <a:spAutoFit/>
          </a:bodyPr>
          <a:lstStyle/>
          <a:p>
            <a:pPr algn="l">
              <a:lnSpc>
                <a:spcPts val="3125"/>
              </a:lnSpc>
            </a:pPr>
            <a:r>
              <a:rPr lang="en-US" sz="1937">
                <a:solidFill>
                  <a:srgbClr val="443728"/>
                </a:solidFill>
                <a:latin typeface="Open Sans"/>
                <a:ea typeface="Open Sans"/>
                <a:cs typeface="Open Sans"/>
                <a:sym typeface="Open Sans"/>
              </a:rPr>
              <a:t>Client includes JWT in requests. Backend validates token signature and expiration before granting access.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EDE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CFA"/>
            </a:solidFill>
          </p:spPr>
        </p:sp>
      </p:grpSp>
      <p:grpSp>
        <p:nvGrpSpPr>
          <p:cNvPr name="Group 6" id="6"/>
          <p:cNvGrpSpPr/>
          <p:nvPr/>
        </p:nvGrpSpPr>
        <p:grpSpPr>
          <a:xfrm rot="0">
            <a:off x="3016453" y="442017"/>
            <a:ext cx="907104" cy="254794"/>
            <a:chOff x="0" y="0"/>
            <a:chExt cx="1209472" cy="339725"/>
          </a:xfrm>
        </p:grpSpPr>
        <p:sp>
          <p:nvSpPr>
            <p:cNvPr name="Freeform 7" id="7"/>
            <p:cNvSpPr/>
            <p:nvPr/>
          </p:nvSpPr>
          <p:spPr>
            <a:xfrm flipH="false" flipV="false" rot="0">
              <a:off x="0" y="0"/>
              <a:ext cx="1209421" cy="339725"/>
            </a:xfrm>
            <a:custGeom>
              <a:avLst/>
              <a:gdLst/>
              <a:ahLst/>
              <a:cxnLst/>
              <a:rect r="r" b="b" t="t" l="l"/>
              <a:pathLst>
                <a:path h="339725" w="1209421">
                  <a:moveTo>
                    <a:pt x="0" y="69596"/>
                  </a:moveTo>
                  <a:cubicBezTo>
                    <a:pt x="0" y="31115"/>
                    <a:pt x="31115" y="0"/>
                    <a:pt x="69596" y="0"/>
                  </a:cubicBezTo>
                  <a:lnTo>
                    <a:pt x="1139825" y="0"/>
                  </a:lnTo>
                  <a:cubicBezTo>
                    <a:pt x="1178306" y="0"/>
                    <a:pt x="1209421" y="31115"/>
                    <a:pt x="1209421" y="69596"/>
                  </a:cubicBezTo>
                  <a:lnTo>
                    <a:pt x="1209421" y="270129"/>
                  </a:lnTo>
                  <a:cubicBezTo>
                    <a:pt x="1209421" y="308610"/>
                    <a:pt x="1178306" y="339725"/>
                    <a:pt x="1139825" y="339725"/>
                  </a:cubicBezTo>
                  <a:lnTo>
                    <a:pt x="69596" y="339725"/>
                  </a:lnTo>
                  <a:cubicBezTo>
                    <a:pt x="31115" y="339725"/>
                    <a:pt x="0" y="308610"/>
                    <a:pt x="0" y="270129"/>
                  </a:cubicBezTo>
                  <a:close/>
                </a:path>
              </a:pathLst>
            </a:custGeom>
            <a:solidFill>
              <a:srgbClr val="EBE2E0"/>
            </a:solidFill>
          </p:spPr>
        </p:sp>
      </p:grpSp>
      <p:sp>
        <p:nvSpPr>
          <p:cNvPr name="TextBox 8" id="8"/>
          <p:cNvSpPr txBox="true"/>
          <p:nvPr/>
        </p:nvSpPr>
        <p:spPr>
          <a:xfrm rot="0">
            <a:off x="3109617" y="479079"/>
            <a:ext cx="720776" cy="171155"/>
          </a:xfrm>
          <a:prstGeom prst="rect">
            <a:avLst/>
          </a:prstGeom>
        </p:spPr>
        <p:txBody>
          <a:bodyPr anchor="t" rtlCol="false" tIns="0" lIns="0" bIns="0" rIns="0">
            <a:spAutoFit/>
          </a:bodyPr>
          <a:lstStyle/>
          <a:p>
            <a:pPr algn="l">
              <a:lnSpc>
                <a:spcPts val="1249"/>
              </a:lnSpc>
            </a:pPr>
            <a:r>
              <a:rPr lang="en-US" sz="937">
                <a:solidFill>
                  <a:srgbClr val="443728"/>
                </a:solidFill>
                <a:latin typeface="Open Sans"/>
                <a:ea typeface="Open Sans"/>
                <a:cs typeface="Open Sans"/>
                <a:sym typeface="Open Sans"/>
              </a:rPr>
              <a:t>WEBSOCKET</a:t>
            </a:r>
          </a:p>
        </p:txBody>
      </p:sp>
      <p:sp>
        <p:nvSpPr>
          <p:cNvPr name="TextBox 9" id="9"/>
          <p:cNvSpPr txBox="true"/>
          <p:nvPr/>
        </p:nvSpPr>
        <p:spPr>
          <a:xfrm rot="0">
            <a:off x="3016453" y="697554"/>
            <a:ext cx="5365994" cy="523723"/>
          </a:xfrm>
          <a:prstGeom prst="rect">
            <a:avLst/>
          </a:prstGeom>
        </p:spPr>
        <p:txBody>
          <a:bodyPr anchor="t" rtlCol="false" tIns="0" lIns="0" bIns="0" rIns="0">
            <a:spAutoFit/>
          </a:bodyPr>
          <a:lstStyle/>
          <a:p>
            <a:pPr algn="l">
              <a:lnSpc>
                <a:spcPts val="3812"/>
              </a:lnSpc>
            </a:pPr>
            <a:r>
              <a:rPr lang="en-US" sz="3000" b="true">
                <a:solidFill>
                  <a:srgbClr val="443728"/>
                </a:solidFill>
                <a:latin typeface="Crimson Pro Bold"/>
                <a:ea typeface="Crimson Pro Bold"/>
                <a:cs typeface="Crimson Pro Bold"/>
                <a:sym typeface="Crimson Pro Bold"/>
              </a:rPr>
              <a:t>Real-Time Communication Flow</a:t>
            </a:r>
          </a:p>
        </p:txBody>
      </p:sp>
      <p:sp>
        <p:nvSpPr>
          <p:cNvPr name="TextBox 10" id="10"/>
          <p:cNvSpPr txBox="true"/>
          <p:nvPr/>
        </p:nvSpPr>
        <p:spPr>
          <a:xfrm rot="0">
            <a:off x="3016453" y="1357760"/>
            <a:ext cx="12254951" cy="413747"/>
          </a:xfrm>
          <a:prstGeom prst="rect">
            <a:avLst/>
          </a:prstGeom>
        </p:spPr>
        <p:txBody>
          <a:bodyPr anchor="t" rtlCol="false" tIns="0" lIns="0" bIns="0" rIns="0">
            <a:spAutoFit/>
          </a:bodyPr>
          <a:lstStyle/>
          <a:p>
            <a:pPr algn="l">
              <a:lnSpc>
                <a:spcPts val="1562"/>
              </a:lnSpc>
            </a:pPr>
            <a:r>
              <a:rPr lang="en-US" sz="1187">
                <a:solidFill>
                  <a:srgbClr val="443728"/>
                </a:solidFill>
                <a:latin typeface="Open Sans"/>
                <a:ea typeface="Open Sans"/>
                <a:cs typeface="Open Sans"/>
                <a:sym typeface="Open Sans"/>
              </a:rPr>
              <a:t>WebSocket connections establish persistent, bidirectional channels between clients and server, enabling instant message delivery without polling overhead. The connection remains open throughout the user session, allowing the server to push messages proactively.</a:t>
            </a:r>
          </a:p>
        </p:txBody>
      </p:sp>
      <p:grpSp>
        <p:nvGrpSpPr>
          <p:cNvPr name="Group 11" id="11"/>
          <p:cNvGrpSpPr/>
          <p:nvPr/>
        </p:nvGrpSpPr>
        <p:grpSpPr>
          <a:xfrm rot="0">
            <a:off x="3467252" y="1880892"/>
            <a:ext cx="11353352" cy="6925418"/>
            <a:chOff x="0" y="0"/>
            <a:chExt cx="15137803" cy="9233891"/>
          </a:xfrm>
        </p:grpSpPr>
        <p:sp>
          <p:nvSpPr>
            <p:cNvPr name="Freeform 12" id="12" descr="preencoded.png"/>
            <p:cNvSpPr/>
            <p:nvPr/>
          </p:nvSpPr>
          <p:spPr>
            <a:xfrm flipH="false" flipV="false" rot="0">
              <a:off x="0" y="0"/>
              <a:ext cx="15137764" cy="9233916"/>
            </a:xfrm>
            <a:custGeom>
              <a:avLst/>
              <a:gdLst/>
              <a:ahLst/>
              <a:cxnLst/>
              <a:rect r="r" b="b" t="t" l="l"/>
              <a:pathLst>
                <a:path h="9233916" w="15137764">
                  <a:moveTo>
                    <a:pt x="0" y="0"/>
                  </a:moveTo>
                  <a:lnTo>
                    <a:pt x="15137764" y="0"/>
                  </a:lnTo>
                  <a:lnTo>
                    <a:pt x="15137764" y="9233916"/>
                  </a:lnTo>
                  <a:lnTo>
                    <a:pt x="0" y="9233916"/>
                  </a:lnTo>
                  <a:lnTo>
                    <a:pt x="0" y="0"/>
                  </a:lnTo>
                  <a:close/>
                </a:path>
              </a:pathLst>
            </a:custGeom>
            <a:blipFill>
              <a:blip r:embed="rId3"/>
              <a:stretch>
                <a:fillRect l="-7" t="0" r="-7" b="0"/>
              </a:stretch>
            </a:blipFill>
          </p:spPr>
        </p:sp>
      </p:grpSp>
      <p:sp>
        <p:nvSpPr>
          <p:cNvPr name="TextBox 13" id="13"/>
          <p:cNvSpPr txBox="true"/>
          <p:nvPr/>
        </p:nvSpPr>
        <p:spPr>
          <a:xfrm rot="0">
            <a:off x="3740591" y="3215754"/>
            <a:ext cx="2587485" cy="363712"/>
          </a:xfrm>
          <a:prstGeom prst="rect">
            <a:avLst/>
          </a:prstGeom>
        </p:spPr>
        <p:txBody>
          <a:bodyPr anchor="t" rtlCol="false" tIns="0" lIns="0" bIns="0" rIns="0">
            <a:spAutoFit/>
          </a:bodyPr>
          <a:lstStyle/>
          <a:p>
            <a:pPr algn="ctr">
              <a:lnSpc>
                <a:spcPts val="2687"/>
              </a:lnSpc>
            </a:pPr>
            <a:r>
              <a:rPr lang="en-US" sz="2125" b="true">
                <a:solidFill>
                  <a:srgbClr val="443728"/>
                </a:solidFill>
                <a:latin typeface="Crimson Pro Bold"/>
                <a:ea typeface="Crimson Pro Bold"/>
                <a:cs typeface="Crimson Pro Bold"/>
                <a:sym typeface="Crimson Pro Bold"/>
              </a:rPr>
              <a:t>Connect</a:t>
            </a:r>
          </a:p>
        </p:txBody>
      </p:sp>
      <p:sp>
        <p:nvSpPr>
          <p:cNvPr name="Freeform 14" id="14" descr="preencoded.png"/>
          <p:cNvSpPr/>
          <p:nvPr/>
        </p:nvSpPr>
        <p:spPr>
          <a:xfrm flipH="false" flipV="false" rot="0">
            <a:off x="4734954" y="4269181"/>
            <a:ext cx="612743" cy="612743"/>
          </a:xfrm>
          <a:custGeom>
            <a:avLst/>
            <a:gdLst/>
            <a:ahLst/>
            <a:cxnLst/>
            <a:rect r="r" b="b" t="t" l="l"/>
            <a:pathLst>
              <a:path h="612743" w="612743">
                <a:moveTo>
                  <a:pt x="0" y="0"/>
                </a:moveTo>
                <a:lnTo>
                  <a:pt x="612743" y="0"/>
                </a:lnTo>
                <a:lnTo>
                  <a:pt x="612743" y="612743"/>
                </a:lnTo>
                <a:lnTo>
                  <a:pt x="0" y="612743"/>
                </a:lnTo>
                <a:lnTo>
                  <a:pt x="0" y="0"/>
                </a:lnTo>
                <a:close/>
              </a:path>
            </a:pathLst>
          </a:custGeom>
          <a:blipFill>
            <a:blip r:embed="rId4">
              <a:extLst>
                <a:ext uri="{96DAC541-7B7A-43D3-8B79-37D633B846F1}">
                  <asvg:svgBlip xmlns:asvg="http://schemas.microsoft.com/office/drawing/2016/SVG/main" r:embed="rId5"/>
                </a:ext>
              </a:extLst>
            </a:blip>
            <a:stretch>
              <a:fillRect l="-13076" t="0" r="-13076" b="0"/>
            </a:stretch>
          </a:blipFill>
        </p:spPr>
      </p:sp>
      <p:sp>
        <p:nvSpPr>
          <p:cNvPr name="TextBox 15" id="15"/>
          <p:cNvSpPr txBox="true"/>
          <p:nvPr/>
        </p:nvSpPr>
        <p:spPr>
          <a:xfrm rot="0">
            <a:off x="5552961" y="6285957"/>
            <a:ext cx="2587485" cy="363712"/>
          </a:xfrm>
          <a:prstGeom prst="rect">
            <a:avLst/>
          </a:prstGeom>
        </p:spPr>
        <p:txBody>
          <a:bodyPr anchor="t" rtlCol="false" tIns="0" lIns="0" bIns="0" rIns="0">
            <a:spAutoFit/>
          </a:bodyPr>
          <a:lstStyle/>
          <a:p>
            <a:pPr algn="ctr">
              <a:lnSpc>
                <a:spcPts val="2687"/>
              </a:lnSpc>
            </a:pPr>
            <a:r>
              <a:rPr lang="en-US" sz="2125" b="true">
                <a:solidFill>
                  <a:srgbClr val="443728"/>
                </a:solidFill>
                <a:latin typeface="Crimson Pro Bold"/>
                <a:ea typeface="Crimson Pro Bold"/>
                <a:cs typeface="Crimson Pro Bold"/>
                <a:sym typeface="Crimson Pro Bold"/>
              </a:rPr>
              <a:t>Authenticate</a:t>
            </a:r>
          </a:p>
        </p:txBody>
      </p:sp>
      <p:sp>
        <p:nvSpPr>
          <p:cNvPr name="Freeform 16" id="16" descr="preencoded.png"/>
          <p:cNvSpPr/>
          <p:nvPr/>
        </p:nvSpPr>
        <p:spPr>
          <a:xfrm flipH="false" flipV="false" rot="0">
            <a:off x="6657994" y="4642761"/>
            <a:ext cx="612743" cy="612743"/>
          </a:xfrm>
          <a:custGeom>
            <a:avLst/>
            <a:gdLst/>
            <a:ahLst/>
            <a:cxnLst/>
            <a:rect r="r" b="b" t="t" l="l"/>
            <a:pathLst>
              <a:path h="612743" w="612743">
                <a:moveTo>
                  <a:pt x="0" y="0"/>
                </a:moveTo>
                <a:lnTo>
                  <a:pt x="612743" y="0"/>
                </a:lnTo>
                <a:lnTo>
                  <a:pt x="612743" y="612743"/>
                </a:lnTo>
                <a:lnTo>
                  <a:pt x="0" y="612743"/>
                </a:lnTo>
                <a:lnTo>
                  <a:pt x="0" y="0"/>
                </a:lnTo>
                <a:close/>
              </a:path>
            </a:pathLst>
          </a:custGeom>
          <a:blipFill>
            <a:blip r:embed="rId6">
              <a:extLst>
                <a:ext uri="{96DAC541-7B7A-43D3-8B79-37D633B846F1}">
                  <asvg:svgBlip xmlns:asvg="http://schemas.microsoft.com/office/drawing/2016/SVG/main" r:embed="rId7"/>
                </a:ext>
              </a:extLst>
            </a:blip>
            <a:stretch>
              <a:fillRect l="0" t="-6923" r="0" b="-6922"/>
            </a:stretch>
          </a:blipFill>
        </p:spPr>
      </p:sp>
      <p:sp>
        <p:nvSpPr>
          <p:cNvPr name="TextBox 17" id="17"/>
          <p:cNvSpPr txBox="true"/>
          <p:nvPr/>
        </p:nvSpPr>
        <p:spPr>
          <a:xfrm rot="0">
            <a:off x="7757865" y="3546062"/>
            <a:ext cx="2671543" cy="363712"/>
          </a:xfrm>
          <a:prstGeom prst="rect">
            <a:avLst/>
          </a:prstGeom>
        </p:spPr>
        <p:txBody>
          <a:bodyPr anchor="t" rtlCol="false" tIns="0" lIns="0" bIns="0" rIns="0">
            <a:spAutoFit/>
          </a:bodyPr>
          <a:lstStyle/>
          <a:p>
            <a:pPr algn="ctr">
              <a:lnSpc>
                <a:spcPts val="2687"/>
              </a:lnSpc>
            </a:pPr>
            <a:r>
              <a:rPr lang="en-US" sz="2125" b="true">
                <a:solidFill>
                  <a:srgbClr val="443728"/>
                </a:solidFill>
                <a:latin typeface="Crimson Pro Bold"/>
                <a:ea typeface="Crimson Pro Bold"/>
                <a:cs typeface="Crimson Pro Bold"/>
                <a:sym typeface="Crimson Pro Bold"/>
              </a:rPr>
              <a:t>Send Message</a:t>
            </a:r>
          </a:p>
        </p:txBody>
      </p:sp>
      <p:sp>
        <p:nvSpPr>
          <p:cNvPr name="Freeform 18" id="18" descr="preencoded.png"/>
          <p:cNvSpPr/>
          <p:nvPr/>
        </p:nvSpPr>
        <p:spPr>
          <a:xfrm flipH="false" flipV="false" rot="0">
            <a:off x="8595017" y="5016341"/>
            <a:ext cx="612743" cy="612743"/>
          </a:xfrm>
          <a:custGeom>
            <a:avLst/>
            <a:gdLst/>
            <a:ahLst/>
            <a:cxnLst/>
            <a:rect r="r" b="b" t="t" l="l"/>
            <a:pathLst>
              <a:path h="612743" w="612743">
                <a:moveTo>
                  <a:pt x="0" y="0"/>
                </a:moveTo>
                <a:lnTo>
                  <a:pt x="612743" y="0"/>
                </a:lnTo>
                <a:lnTo>
                  <a:pt x="612743" y="612743"/>
                </a:lnTo>
                <a:lnTo>
                  <a:pt x="0" y="612743"/>
                </a:lnTo>
                <a:lnTo>
                  <a:pt x="0" y="0"/>
                </a:lnTo>
                <a:close/>
              </a:path>
            </a:pathLst>
          </a:custGeom>
          <a:blipFill>
            <a:blip r:embed="rId8">
              <a:extLst>
                <a:ext uri="{96DAC541-7B7A-43D3-8B79-37D633B846F1}">
                  <asvg:svgBlip xmlns:asvg="http://schemas.microsoft.com/office/drawing/2016/SVG/main" r:embed="rId9"/>
                </a:ext>
              </a:extLst>
            </a:blip>
            <a:stretch>
              <a:fillRect l="-8461" t="0" r="-8461" b="0"/>
            </a:stretch>
          </a:blipFill>
        </p:spPr>
      </p:sp>
      <p:sp>
        <p:nvSpPr>
          <p:cNvPr name="TextBox 19" id="19"/>
          <p:cNvSpPr txBox="true"/>
          <p:nvPr/>
        </p:nvSpPr>
        <p:spPr>
          <a:xfrm rot="0">
            <a:off x="9551470" y="7088457"/>
            <a:ext cx="2587485" cy="363712"/>
          </a:xfrm>
          <a:prstGeom prst="rect">
            <a:avLst/>
          </a:prstGeom>
        </p:spPr>
        <p:txBody>
          <a:bodyPr anchor="t" rtlCol="false" tIns="0" lIns="0" bIns="0" rIns="0">
            <a:spAutoFit/>
          </a:bodyPr>
          <a:lstStyle/>
          <a:p>
            <a:pPr algn="ctr">
              <a:lnSpc>
                <a:spcPts val="2687"/>
              </a:lnSpc>
            </a:pPr>
            <a:r>
              <a:rPr lang="en-US" sz="2125" b="true">
                <a:solidFill>
                  <a:srgbClr val="443728"/>
                </a:solidFill>
                <a:latin typeface="Crimson Pro Bold"/>
                <a:ea typeface="Crimson Pro Bold"/>
                <a:cs typeface="Crimson Pro Bold"/>
                <a:sym typeface="Crimson Pro Bold"/>
              </a:rPr>
              <a:t>Route</a:t>
            </a:r>
          </a:p>
        </p:txBody>
      </p:sp>
      <p:sp>
        <p:nvSpPr>
          <p:cNvPr name="Freeform 20" id="20" descr="preencoded.png"/>
          <p:cNvSpPr/>
          <p:nvPr/>
        </p:nvSpPr>
        <p:spPr>
          <a:xfrm flipH="false" flipV="false" rot="0">
            <a:off x="10531850" y="5389921"/>
            <a:ext cx="612743" cy="612743"/>
          </a:xfrm>
          <a:custGeom>
            <a:avLst/>
            <a:gdLst/>
            <a:ahLst/>
            <a:cxnLst/>
            <a:rect r="r" b="b" t="t" l="l"/>
            <a:pathLst>
              <a:path h="612743" w="612743">
                <a:moveTo>
                  <a:pt x="0" y="0"/>
                </a:moveTo>
                <a:lnTo>
                  <a:pt x="612743" y="0"/>
                </a:lnTo>
                <a:lnTo>
                  <a:pt x="612743" y="612744"/>
                </a:lnTo>
                <a:lnTo>
                  <a:pt x="0" y="612744"/>
                </a:lnTo>
                <a:lnTo>
                  <a:pt x="0" y="0"/>
                </a:lnTo>
                <a:close/>
              </a:path>
            </a:pathLst>
          </a:custGeom>
          <a:blipFill>
            <a:blip r:embed="rId10">
              <a:extLst>
                <a:ext uri="{96DAC541-7B7A-43D3-8B79-37D633B846F1}">
                  <asvg:svgBlip xmlns:asvg="http://schemas.microsoft.com/office/drawing/2016/SVG/main" r:embed="rId11"/>
                </a:ext>
              </a:extLst>
            </a:blip>
            <a:stretch>
              <a:fillRect l="-11538" t="0" r="-11537" b="0"/>
            </a:stretch>
          </a:blipFill>
        </p:spPr>
      </p:sp>
      <p:sp>
        <p:nvSpPr>
          <p:cNvPr name="TextBox 21" id="21"/>
          <p:cNvSpPr txBox="true"/>
          <p:nvPr/>
        </p:nvSpPr>
        <p:spPr>
          <a:xfrm rot="0">
            <a:off x="11848090" y="4267362"/>
            <a:ext cx="2587485" cy="363712"/>
          </a:xfrm>
          <a:prstGeom prst="rect">
            <a:avLst/>
          </a:prstGeom>
        </p:spPr>
        <p:txBody>
          <a:bodyPr anchor="t" rtlCol="false" tIns="0" lIns="0" bIns="0" rIns="0">
            <a:spAutoFit/>
          </a:bodyPr>
          <a:lstStyle/>
          <a:p>
            <a:pPr algn="ctr">
              <a:lnSpc>
                <a:spcPts val="2687"/>
              </a:lnSpc>
            </a:pPr>
            <a:r>
              <a:rPr lang="en-US" sz="2125" b="true">
                <a:solidFill>
                  <a:srgbClr val="443728"/>
                </a:solidFill>
                <a:latin typeface="Crimson Pro Bold"/>
                <a:ea typeface="Crimson Pro Bold"/>
                <a:cs typeface="Crimson Pro Bold"/>
                <a:sym typeface="Crimson Pro Bold"/>
              </a:rPr>
              <a:t>Deliver</a:t>
            </a:r>
          </a:p>
        </p:txBody>
      </p:sp>
      <p:sp>
        <p:nvSpPr>
          <p:cNvPr name="Freeform 22" id="22" descr="preencoded.png"/>
          <p:cNvSpPr/>
          <p:nvPr/>
        </p:nvSpPr>
        <p:spPr>
          <a:xfrm flipH="false" flipV="false" rot="0">
            <a:off x="12593336" y="5791076"/>
            <a:ext cx="612743" cy="612743"/>
          </a:xfrm>
          <a:custGeom>
            <a:avLst/>
            <a:gdLst/>
            <a:ahLst/>
            <a:cxnLst/>
            <a:rect r="r" b="b" t="t" l="l"/>
            <a:pathLst>
              <a:path h="612743" w="612743">
                <a:moveTo>
                  <a:pt x="0" y="0"/>
                </a:moveTo>
                <a:lnTo>
                  <a:pt x="612743" y="0"/>
                </a:lnTo>
                <a:lnTo>
                  <a:pt x="612743" y="612743"/>
                </a:lnTo>
                <a:lnTo>
                  <a:pt x="0" y="61274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3" id="23"/>
          <p:cNvSpPr txBox="true"/>
          <p:nvPr/>
        </p:nvSpPr>
        <p:spPr>
          <a:xfrm rot="0">
            <a:off x="3016453" y="9003506"/>
            <a:ext cx="1942509" cy="252260"/>
          </a:xfrm>
          <a:prstGeom prst="rect">
            <a:avLst/>
          </a:prstGeom>
        </p:spPr>
        <p:txBody>
          <a:bodyPr anchor="t" rtlCol="false" tIns="0" lIns="0" bIns="0" rIns="0">
            <a:spAutoFit/>
          </a:bodyPr>
          <a:lstStyle/>
          <a:p>
            <a:pPr algn="l">
              <a:lnSpc>
                <a:spcPts val="1874"/>
              </a:lnSpc>
            </a:pPr>
            <a:r>
              <a:rPr lang="en-US" sz="1500" b="true">
                <a:solidFill>
                  <a:srgbClr val="443728"/>
                </a:solidFill>
                <a:latin typeface="Crimson Pro Bold"/>
                <a:ea typeface="Crimson Pro Bold"/>
                <a:cs typeface="Crimson Pro Bold"/>
                <a:sym typeface="Crimson Pro Bold"/>
              </a:rPr>
              <a:t>Private Messaging</a:t>
            </a:r>
          </a:p>
        </p:txBody>
      </p:sp>
      <p:sp>
        <p:nvSpPr>
          <p:cNvPr name="TextBox 24" id="24"/>
          <p:cNvSpPr txBox="true"/>
          <p:nvPr/>
        </p:nvSpPr>
        <p:spPr>
          <a:xfrm rot="0">
            <a:off x="3016453" y="9343577"/>
            <a:ext cx="5937942" cy="413747"/>
          </a:xfrm>
          <a:prstGeom prst="rect">
            <a:avLst/>
          </a:prstGeom>
        </p:spPr>
        <p:txBody>
          <a:bodyPr anchor="t" rtlCol="false" tIns="0" lIns="0" bIns="0" rIns="0">
            <a:spAutoFit/>
          </a:bodyPr>
          <a:lstStyle/>
          <a:p>
            <a:pPr algn="l">
              <a:lnSpc>
                <a:spcPts val="1562"/>
              </a:lnSpc>
            </a:pPr>
            <a:r>
              <a:rPr lang="en-US" sz="1187">
                <a:solidFill>
                  <a:srgbClr val="443728"/>
                </a:solidFill>
                <a:latin typeface="Open Sans"/>
                <a:ea typeface="Open Sans"/>
                <a:cs typeface="Open Sans"/>
                <a:sym typeface="Open Sans"/>
              </a:rPr>
              <a:t>Messages with specified recipient IDs are routed only to the target user's active WebSocket connection, ensuring privacy and reducing network traffic.</a:t>
            </a:r>
          </a:p>
        </p:txBody>
      </p:sp>
      <p:sp>
        <p:nvSpPr>
          <p:cNvPr name="TextBox 25" id="25"/>
          <p:cNvSpPr txBox="true"/>
          <p:nvPr/>
        </p:nvSpPr>
        <p:spPr>
          <a:xfrm rot="0">
            <a:off x="9342834" y="9003506"/>
            <a:ext cx="1942509" cy="252260"/>
          </a:xfrm>
          <a:prstGeom prst="rect">
            <a:avLst/>
          </a:prstGeom>
        </p:spPr>
        <p:txBody>
          <a:bodyPr anchor="t" rtlCol="false" tIns="0" lIns="0" bIns="0" rIns="0">
            <a:spAutoFit/>
          </a:bodyPr>
          <a:lstStyle/>
          <a:p>
            <a:pPr algn="l">
              <a:lnSpc>
                <a:spcPts val="1874"/>
              </a:lnSpc>
            </a:pPr>
            <a:r>
              <a:rPr lang="en-US" sz="1500" b="true">
                <a:solidFill>
                  <a:srgbClr val="443728"/>
                </a:solidFill>
                <a:latin typeface="Crimson Pro Bold"/>
                <a:ea typeface="Crimson Pro Bold"/>
                <a:cs typeface="Crimson Pro Bold"/>
                <a:sym typeface="Crimson Pro Bold"/>
              </a:rPr>
              <a:t>Broadcast Messaging</a:t>
            </a:r>
          </a:p>
        </p:txBody>
      </p:sp>
      <p:sp>
        <p:nvSpPr>
          <p:cNvPr name="TextBox 26" id="26"/>
          <p:cNvSpPr txBox="true"/>
          <p:nvPr/>
        </p:nvSpPr>
        <p:spPr>
          <a:xfrm rot="0">
            <a:off x="9342834" y="9343577"/>
            <a:ext cx="5937942" cy="413747"/>
          </a:xfrm>
          <a:prstGeom prst="rect">
            <a:avLst/>
          </a:prstGeom>
        </p:spPr>
        <p:txBody>
          <a:bodyPr anchor="t" rtlCol="false" tIns="0" lIns="0" bIns="0" rIns="0">
            <a:spAutoFit/>
          </a:bodyPr>
          <a:lstStyle/>
          <a:p>
            <a:pPr algn="l">
              <a:lnSpc>
                <a:spcPts val="1562"/>
              </a:lnSpc>
            </a:pPr>
            <a:r>
              <a:rPr lang="en-US" sz="1187">
                <a:solidFill>
                  <a:srgbClr val="443728"/>
                </a:solidFill>
                <a:latin typeface="Open Sans"/>
                <a:ea typeface="Open Sans"/>
                <a:cs typeface="Open Sans"/>
                <a:sym typeface="Open Sans"/>
              </a:rPr>
              <a:t>Messages without recipient IDs are distributed to all connected clients simultaneously, enabling group chat functionality.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EDE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CFA"/>
            </a:solidFill>
          </p:spPr>
        </p:sp>
      </p:grpSp>
      <p:sp>
        <p:nvSpPr>
          <p:cNvPr name="TextBox 6" id="6"/>
          <p:cNvSpPr txBox="true"/>
          <p:nvPr/>
        </p:nvSpPr>
        <p:spPr>
          <a:xfrm rot="0">
            <a:off x="992238" y="1928813"/>
            <a:ext cx="6202261" cy="803672"/>
          </a:xfrm>
          <a:prstGeom prst="rect">
            <a:avLst/>
          </a:prstGeom>
        </p:spPr>
        <p:txBody>
          <a:bodyPr anchor="t" rtlCol="false" tIns="0" lIns="0" bIns="0" rIns="0">
            <a:spAutoFit/>
          </a:bodyPr>
          <a:lstStyle/>
          <a:p>
            <a:pPr algn="l">
              <a:lnSpc>
                <a:spcPts val="6062"/>
              </a:lnSpc>
            </a:pPr>
            <a:r>
              <a:rPr lang="en-US" sz="4875" b="true">
                <a:solidFill>
                  <a:srgbClr val="443728"/>
                </a:solidFill>
                <a:latin typeface="Crimson Pro Bold"/>
                <a:ea typeface="Crimson Pro Bold"/>
                <a:cs typeface="Crimson Pro Bold"/>
                <a:sym typeface="Crimson Pro Bold"/>
              </a:rPr>
              <a:t>Backend Architecture</a:t>
            </a:r>
          </a:p>
        </p:txBody>
      </p:sp>
      <p:grpSp>
        <p:nvGrpSpPr>
          <p:cNvPr name="Group 7" id="7"/>
          <p:cNvGrpSpPr/>
          <p:nvPr/>
        </p:nvGrpSpPr>
        <p:grpSpPr>
          <a:xfrm rot="0">
            <a:off x="987476" y="3223765"/>
            <a:ext cx="3899449" cy="4037705"/>
            <a:chOff x="0" y="0"/>
            <a:chExt cx="5199266" cy="5383606"/>
          </a:xfrm>
        </p:grpSpPr>
        <p:sp>
          <p:nvSpPr>
            <p:cNvPr name="Freeform 8" id="8"/>
            <p:cNvSpPr/>
            <p:nvPr/>
          </p:nvSpPr>
          <p:spPr>
            <a:xfrm flipH="false" flipV="false" rot="0">
              <a:off x="6350" y="6350"/>
              <a:ext cx="5186553" cy="5370830"/>
            </a:xfrm>
            <a:custGeom>
              <a:avLst/>
              <a:gdLst/>
              <a:ahLst/>
              <a:cxnLst/>
              <a:rect r="r" b="b" t="t" l="l"/>
              <a:pathLst>
                <a:path h="5370830" w="5186553">
                  <a:moveTo>
                    <a:pt x="0" y="138938"/>
                  </a:moveTo>
                  <a:cubicBezTo>
                    <a:pt x="0" y="62230"/>
                    <a:pt x="62230" y="0"/>
                    <a:pt x="138938" y="0"/>
                  </a:cubicBezTo>
                  <a:lnTo>
                    <a:pt x="5047615" y="0"/>
                  </a:lnTo>
                  <a:cubicBezTo>
                    <a:pt x="5124323" y="0"/>
                    <a:pt x="5186553" y="62230"/>
                    <a:pt x="5186553" y="138938"/>
                  </a:cubicBezTo>
                  <a:lnTo>
                    <a:pt x="5186553" y="5231892"/>
                  </a:lnTo>
                  <a:cubicBezTo>
                    <a:pt x="5186553" y="5308600"/>
                    <a:pt x="5124323" y="5370830"/>
                    <a:pt x="5047615" y="5370830"/>
                  </a:cubicBezTo>
                  <a:lnTo>
                    <a:pt x="138938" y="5370830"/>
                  </a:lnTo>
                  <a:cubicBezTo>
                    <a:pt x="62230" y="5370957"/>
                    <a:pt x="0" y="5308727"/>
                    <a:pt x="0" y="5231892"/>
                  </a:cubicBezTo>
                  <a:close/>
                </a:path>
              </a:pathLst>
            </a:custGeom>
            <a:solidFill>
              <a:srgbClr val="EBE2E0"/>
            </a:solidFill>
          </p:spPr>
        </p:sp>
        <p:sp>
          <p:nvSpPr>
            <p:cNvPr name="Freeform 9" id="9"/>
            <p:cNvSpPr/>
            <p:nvPr/>
          </p:nvSpPr>
          <p:spPr>
            <a:xfrm flipH="false" flipV="false" rot="0">
              <a:off x="0" y="0"/>
              <a:ext cx="5199253" cy="5383530"/>
            </a:xfrm>
            <a:custGeom>
              <a:avLst/>
              <a:gdLst/>
              <a:ahLst/>
              <a:cxnLst/>
              <a:rect r="r" b="b" t="t" l="l"/>
              <a:pathLst>
                <a:path h="5383530" w="5199253">
                  <a:moveTo>
                    <a:pt x="0" y="145288"/>
                  </a:moveTo>
                  <a:cubicBezTo>
                    <a:pt x="0" y="65024"/>
                    <a:pt x="65024" y="0"/>
                    <a:pt x="145288" y="0"/>
                  </a:cubicBezTo>
                  <a:lnTo>
                    <a:pt x="5053965" y="0"/>
                  </a:lnTo>
                  <a:lnTo>
                    <a:pt x="5053965" y="6350"/>
                  </a:lnTo>
                  <a:lnTo>
                    <a:pt x="5053965" y="0"/>
                  </a:lnTo>
                  <a:cubicBezTo>
                    <a:pt x="5134229" y="0"/>
                    <a:pt x="5199253" y="65024"/>
                    <a:pt x="5199253" y="145288"/>
                  </a:cubicBezTo>
                  <a:lnTo>
                    <a:pt x="5192903" y="145288"/>
                  </a:lnTo>
                  <a:lnTo>
                    <a:pt x="5199253" y="145288"/>
                  </a:lnTo>
                  <a:lnTo>
                    <a:pt x="5199253" y="5238242"/>
                  </a:lnTo>
                  <a:lnTo>
                    <a:pt x="5192903" y="5238242"/>
                  </a:lnTo>
                  <a:lnTo>
                    <a:pt x="5199253" y="5238242"/>
                  </a:lnTo>
                  <a:cubicBezTo>
                    <a:pt x="5199253" y="5318506"/>
                    <a:pt x="5134229" y="5383530"/>
                    <a:pt x="5053965" y="5383530"/>
                  </a:cubicBezTo>
                  <a:lnTo>
                    <a:pt x="5053965" y="5377180"/>
                  </a:lnTo>
                  <a:lnTo>
                    <a:pt x="5053965" y="5383530"/>
                  </a:lnTo>
                  <a:lnTo>
                    <a:pt x="145288" y="5383530"/>
                  </a:lnTo>
                  <a:lnTo>
                    <a:pt x="145288" y="5377180"/>
                  </a:lnTo>
                  <a:lnTo>
                    <a:pt x="145288" y="5383530"/>
                  </a:lnTo>
                  <a:cubicBezTo>
                    <a:pt x="65024" y="5383657"/>
                    <a:pt x="0" y="5318506"/>
                    <a:pt x="0" y="5238242"/>
                  </a:cubicBezTo>
                  <a:lnTo>
                    <a:pt x="0" y="145288"/>
                  </a:lnTo>
                  <a:lnTo>
                    <a:pt x="6350" y="145288"/>
                  </a:lnTo>
                  <a:lnTo>
                    <a:pt x="0" y="145288"/>
                  </a:lnTo>
                  <a:moveTo>
                    <a:pt x="12700" y="145288"/>
                  </a:moveTo>
                  <a:lnTo>
                    <a:pt x="12700" y="5238242"/>
                  </a:lnTo>
                  <a:lnTo>
                    <a:pt x="6350" y="5238242"/>
                  </a:lnTo>
                  <a:lnTo>
                    <a:pt x="12700" y="5238242"/>
                  </a:lnTo>
                  <a:cubicBezTo>
                    <a:pt x="12700" y="5311521"/>
                    <a:pt x="72009" y="5370830"/>
                    <a:pt x="145288" y="5370830"/>
                  </a:cubicBezTo>
                  <a:lnTo>
                    <a:pt x="5053965" y="5370830"/>
                  </a:lnTo>
                  <a:cubicBezTo>
                    <a:pt x="5127244" y="5370830"/>
                    <a:pt x="5186553" y="5311521"/>
                    <a:pt x="5186553" y="5238242"/>
                  </a:cubicBezTo>
                  <a:lnTo>
                    <a:pt x="5186553" y="145288"/>
                  </a:lnTo>
                  <a:cubicBezTo>
                    <a:pt x="5186553" y="72009"/>
                    <a:pt x="5127244" y="12700"/>
                    <a:pt x="5053965" y="12700"/>
                  </a:cubicBezTo>
                  <a:lnTo>
                    <a:pt x="145288" y="12700"/>
                  </a:lnTo>
                  <a:lnTo>
                    <a:pt x="145288" y="6350"/>
                  </a:lnTo>
                  <a:lnTo>
                    <a:pt x="145288" y="12700"/>
                  </a:lnTo>
                  <a:cubicBezTo>
                    <a:pt x="72009" y="12700"/>
                    <a:pt x="12700" y="72009"/>
                    <a:pt x="12700" y="145288"/>
                  </a:cubicBezTo>
                  <a:close/>
                </a:path>
              </a:pathLst>
            </a:custGeom>
            <a:solidFill>
              <a:srgbClr val="D1C8C6"/>
            </a:solidFill>
          </p:spPr>
        </p:sp>
      </p:grpSp>
      <p:grpSp>
        <p:nvGrpSpPr>
          <p:cNvPr name="Group 10" id="10"/>
          <p:cNvGrpSpPr/>
          <p:nvPr/>
        </p:nvGrpSpPr>
        <p:grpSpPr>
          <a:xfrm rot="0">
            <a:off x="1249709" y="3485998"/>
            <a:ext cx="744141" cy="744141"/>
            <a:chOff x="0" y="0"/>
            <a:chExt cx="992188" cy="992188"/>
          </a:xfrm>
        </p:grpSpPr>
        <p:sp>
          <p:nvSpPr>
            <p:cNvPr name="Freeform 11" id="11"/>
            <p:cNvSpPr/>
            <p:nvPr/>
          </p:nvSpPr>
          <p:spPr>
            <a:xfrm flipH="false" flipV="false" rot="0">
              <a:off x="0" y="0"/>
              <a:ext cx="992251" cy="992251"/>
            </a:xfrm>
            <a:custGeom>
              <a:avLst/>
              <a:gdLst/>
              <a:ahLst/>
              <a:cxnLst/>
              <a:rect r="r" b="b" t="t" l="l"/>
              <a:pathLst>
                <a:path h="992251" w="992251">
                  <a:moveTo>
                    <a:pt x="0" y="496062"/>
                  </a:moveTo>
                  <a:cubicBezTo>
                    <a:pt x="0" y="222123"/>
                    <a:pt x="222123" y="0"/>
                    <a:pt x="496062" y="0"/>
                  </a:cubicBezTo>
                  <a:cubicBezTo>
                    <a:pt x="770001" y="0"/>
                    <a:pt x="992251" y="222123"/>
                    <a:pt x="992251" y="496062"/>
                  </a:cubicBezTo>
                  <a:cubicBezTo>
                    <a:pt x="992251" y="770001"/>
                    <a:pt x="770128" y="992251"/>
                    <a:pt x="496062" y="992251"/>
                  </a:cubicBezTo>
                  <a:cubicBezTo>
                    <a:pt x="221996" y="992251"/>
                    <a:pt x="0" y="770128"/>
                    <a:pt x="0" y="496062"/>
                  </a:cubicBezTo>
                  <a:close/>
                </a:path>
              </a:pathLst>
            </a:custGeom>
            <a:solidFill>
              <a:srgbClr val="835E54"/>
            </a:solidFill>
          </p:spPr>
        </p:sp>
      </p:grpSp>
      <p:sp>
        <p:nvSpPr>
          <p:cNvPr name="Freeform 12" id="12" descr="preencoded.png"/>
          <p:cNvSpPr/>
          <p:nvPr/>
        </p:nvSpPr>
        <p:spPr>
          <a:xfrm flipH="false" flipV="false" rot="0">
            <a:off x="1454353" y="3690490"/>
            <a:ext cx="334861" cy="334861"/>
          </a:xfrm>
          <a:custGeom>
            <a:avLst/>
            <a:gdLst/>
            <a:ahLst/>
            <a:cxnLst/>
            <a:rect r="r" b="b" t="t" l="l"/>
            <a:pathLst>
              <a:path h="334861" w="334861">
                <a:moveTo>
                  <a:pt x="0" y="0"/>
                </a:moveTo>
                <a:lnTo>
                  <a:pt x="334861" y="0"/>
                </a:lnTo>
                <a:lnTo>
                  <a:pt x="334861" y="334861"/>
                </a:lnTo>
                <a:lnTo>
                  <a:pt x="0" y="334861"/>
                </a:lnTo>
                <a:lnTo>
                  <a:pt x="0" y="0"/>
                </a:lnTo>
                <a:close/>
              </a:path>
            </a:pathLst>
          </a:custGeom>
          <a:blipFill>
            <a:blip r:embed="rId3">
              <a:extLst>
                <a:ext uri="{96DAC541-7B7A-43D3-8B79-37D633B846F1}">
                  <asvg:svgBlip xmlns:asvg="http://schemas.microsoft.com/office/drawing/2016/SVG/main" r:embed="rId4"/>
                </a:ext>
              </a:extLst>
            </a:blip>
            <a:stretch>
              <a:fillRect l="0" t="-12501" r="0" b="-12498"/>
            </a:stretch>
          </a:blipFill>
        </p:spPr>
      </p:sp>
      <p:sp>
        <p:nvSpPr>
          <p:cNvPr name="TextBox 13" id="13"/>
          <p:cNvSpPr txBox="true"/>
          <p:nvPr/>
        </p:nvSpPr>
        <p:spPr>
          <a:xfrm rot="0">
            <a:off x="1249709" y="4468568"/>
            <a:ext cx="3101130" cy="397221"/>
          </a:xfrm>
          <a:prstGeom prst="rect">
            <a:avLst/>
          </a:prstGeom>
        </p:spPr>
        <p:txBody>
          <a:bodyPr anchor="t" rtlCol="false" tIns="0" lIns="0" bIns="0" rIns="0">
            <a:spAutoFit/>
          </a:bodyPr>
          <a:lstStyle/>
          <a:p>
            <a:pPr algn="l">
              <a:lnSpc>
                <a:spcPts val="2999"/>
              </a:lnSpc>
            </a:pPr>
            <a:r>
              <a:rPr lang="en-US" sz="2437" b="true">
                <a:solidFill>
                  <a:srgbClr val="443728"/>
                </a:solidFill>
                <a:latin typeface="Crimson Pro Bold"/>
                <a:ea typeface="Crimson Pro Bold"/>
                <a:cs typeface="Crimson Pro Bold"/>
                <a:sym typeface="Crimson Pro Bold"/>
              </a:rPr>
              <a:t>auth.py</a:t>
            </a:r>
          </a:p>
        </p:txBody>
      </p:sp>
      <p:sp>
        <p:nvSpPr>
          <p:cNvPr name="TextBox 14" id="14"/>
          <p:cNvSpPr txBox="true"/>
          <p:nvPr/>
        </p:nvSpPr>
        <p:spPr>
          <a:xfrm rot="0">
            <a:off x="1249709" y="4928892"/>
            <a:ext cx="3374974" cy="1673428"/>
          </a:xfrm>
          <a:prstGeom prst="rect">
            <a:avLst/>
          </a:prstGeom>
        </p:spPr>
        <p:txBody>
          <a:bodyPr anchor="t" rtlCol="false" tIns="0" lIns="0" bIns="0" rIns="0">
            <a:spAutoFit/>
          </a:bodyPr>
          <a:lstStyle/>
          <a:p>
            <a:pPr algn="l">
              <a:lnSpc>
                <a:spcPts val="3125"/>
              </a:lnSpc>
            </a:pPr>
            <a:r>
              <a:rPr lang="en-US" sz="1937">
                <a:solidFill>
                  <a:srgbClr val="443728"/>
                </a:solidFill>
                <a:latin typeface="Open Sans"/>
                <a:ea typeface="Open Sans"/>
                <a:cs typeface="Open Sans"/>
                <a:sym typeface="Open Sans"/>
              </a:rPr>
              <a:t>Handles user registration, login, password hashing with bcrypt, and JWT token generation/validation.</a:t>
            </a:r>
          </a:p>
        </p:txBody>
      </p:sp>
      <p:grpSp>
        <p:nvGrpSpPr>
          <p:cNvPr name="Group 15" id="15"/>
          <p:cNvGrpSpPr/>
          <p:nvPr/>
        </p:nvGrpSpPr>
        <p:grpSpPr>
          <a:xfrm rot="0">
            <a:off x="5125345" y="3223765"/>
            <a:ext cx="3899449" cy="4037705"/>
            <a:chOff x="0" y="0"/>
            <a:chExt cx="5199266" cy="5383606"/>
          </a:xfrm>
        </p:grpSpPr>
        <p:sp>
          <p:nvSpPr>
            <p:cNvPr name="Freeform 16" id="16"/>
            <p:cNvSpPr/>
            <p:nvPr/>
          </p:nvSpPr>
          <p:spPr>
            <a:xfrm flipH="false" flipV="false" rot="0">
              <a:off x="6350" y="6350"/>
              <a:ext cx="5186553" cy="5370830"/>
            </a:xfrm>
            <a:custGeom>
              <a:avLst/>
              <a:gdLst/>
              <a:ahLst/>
              <a:cxnLst/>
              <a:rect r="r" b="b" t="t" l="l"/>
              <a:pathLst>
                <a:path h="5370830" w="5186553">
                  <a:moveTo>
                    <a:pt x="0" y="138938"/>
                  </a:moveTo>
                  <a:cubicBezTo>
                    <a:pt x="0" y="62230"/>
                    <a:pt x="62230" y="0"/>
                    <a:pt x="138938" y="0"/>
                  </a:cubicBezTo>
                  <a:lnTo>
                    <a:pt x="5047615" y="0"/>
                  </a:lnTo>
                  <a:cubicBezTo>
                    <a:pt x="5124323" y="0"/>
                    <a:pt x="5186553" y="62230"/>
                    <a:pt x="5186553" y="138938"/>
                  </a:cubicBezTo>
                  <a:lnTo>
                    <a:pt x="5186553" y="5231892"/>
                  </a:lnTo>
                  <a:cubicBezTo>
                    <a:pt x="5186553" y="5308600"/>
                    <a:pt x="5124323" y="5370830"/>
                    <a:pt x="5047615" y="5370830"/>
                  </a:cubicBezTo>
                  <a:lnTo>
                    <a:pt x="138938" y="5370830"/>
                  </a:lnTo>
                  <a:cubicBezTo>
                    <a:pt x="62230" y="5370957"/>
                    <a:pt x="0" y="5308727"/>
                    <a:pt x="0" y="5231892"/>
                  </a:cubicBezTo>
                  <a:close/>
                </a:path>
              </a:pathLst>
            </a:custGeom>
            <a:solidFill>
              <a:srgbClr val="EBE2E0"/>
            </a:solidFill>
          </p:spPr>
        </p:sp>
        <p:sp>
          <p:nvSpPr>
            <p:cNvPr name="Freeform 17" id="17"/>
            <p:cNvSpPr/>
            <p:nvPr/>
          </p:nvSpPr>
          <p:spPr>
            <a:xfrm flipH="false" flipV="false" rot="0">
              <a:off x="0" y="0"/>
              <a:ext cx="5199253" cy="5383530"/>
            </a:xfrm>
            <a:custGeom>
              <a:avLst/>
              <a:gdLst/>
              <a:ahLst/>
              <a:cxnLst/>
              <a:rect r="r" b="b" t="t" l="l"/>
              <a:pathLst>
                <a:path h="5383530" w="5199253">
                  <a:moveTo>
                    <a:pt x="0" y="145288"/>
                  </a:moveTo>
                  <a:cubicBezTo>
                    <a:pt x="0" y="65024"/>
                    <a:pt x="65024" y="0"/>
                    <a:pt x="145288" y="0"/>
                  </a:cubicBezTo>
                  <a:lnTo>
                    <a:pt x="5053965" y="0"/>
                  </a:lnTo>
                  <a:lnTo>
                    <a:pt x="5053965" y="6350"/>
                  </a:lnTo>
                  <a:lnTo>
                    <a:pt x="5053965" y="0"/>
                  </a:lnTo>
                  <a:cubicBezTo>
                    <a:pt x="5134229" y="0"/>
                    <a:pt x="5199253" y="65024"/>
                    <a:pt x="5199253" y="145288"/>
                  </a:cubicBezTo>
                  <a:lnTo>
                    <a:pt x="5192903" y="145288"/>
                  </a:lnTo>
                  <a:lnTo>
                    <a:pt x="5199253" y="145288"/>
                  </a:lnTo>
                  <a:lnTo>
                    <a:pt x="5199253" y="5238242"/>
                  </a:lnTo>
                  <a:lnTo>
                    <a:pt x="5192903" y="5238242"/>
                  </a:lnTo>
                  <a:lnTo>
                    <a:pt x="5199253" y="5238242"/>
                  </a:lnTo>
                  <a:cubicBezTo>
                    <a:pt x="5199253" y="5318506"/>
                    <a:pt x="5134229" y="5383530"/>
                    <a:pt x="5053965" y="5383530"/>
                  </a:cubicBezTo>
                  <a:lnTo>
                    <a:pt x="5053965" y="5377180"/>
                  </a:lnTo>
                  <a:lnTo>
                    <a:pt x="5053965" y="5383530"/>
                  </a:lnTo>
                  <a:lnTo>
                    <a:pt x="145288" y="5383530"/>
                  </a:lnTo>
                  <a:lnTo>
                    <a:pt x="145288" y="5377180"/>
                  </a:lnTo>
                  <a:lnTo>
                    <a:pt x="145288" y="5383530"/>
                  </a:lnTo>
                  <a:cubicBezTo>
                    <a:pt x="65024" y="5383657"/>
                    <a:pt x="0" y="5318506"/>
                    <a:pt x="0" y="5238242"/>
                  </a:cubicBezTo>
                  <a:lnTo>
                    <a:pt x="0" y="145288"/>
                  </a:lnTo>
                  <a:lnTo>
                    <a:pt x="6350" y="145288"/>
                  </a:lnTo>
                  <a:lnTo>
                    <a:pt x="0" y="145288"/>
                  </a:lnTo>
                  <a:moveTo>
                    <a:pt x="12700" y="145288"/>
                  </a:moveTo>
                  <a:lnTo>
                    <a:pt x="12700" y="5238242"/>
                  </a:lnTo>
                  <a:lnTo>
                    <a:pt x="6350" y="5238242"/>
                  </a:lnTo>
                  <a:lnTo>
                    <a:pt x="12700" y="5238242"/>
                  </a:lnTo>
                  <a:cubicBezTo>
                    <a:pt x="12700" y="5311521"/>
                    <a:pt x="72009" y="5370830"/>
                    <a:pt x="145288" y="5370830"/>
                  </a:cubicBezTo>
                  <a:lnTo>
                    <a:pt x="5053965" y="5370830"/>
                  </a:lnTo>
                  <a:cubicBezTo>
                    <a:pt x="5127244" y="5370830"/>
                    <a:pt x="5186553" y="5311521"/>
                    <a:pt x="5186553" y="5238242"/>
                  </a:cubicBezTo>
                  <a:lnTo>
                    <a:pt x="5186553" y="145288"/>
                  </a:lnTo>
                  <a:cubicBezTo>
                    <a:pt x="5186553" y="72009"/>
                    <a:pt x="5127244" y="12700"/>
                    <a:pt x="5053965" y="12700"/>
                  </a:cubicBezTo>
                  <a:lnTo>
                    <a:pt x="145288" y="12700"/>
                  </a:lnTo>
                  <a:lnTo>
                    <a:pt x="145288" y="6350"/>
                  </a:lnTo>
                  <a:lnTo>
                    <a:pt x="145288" y="12700"/>
                  </a:lnTo>
                  <a:cubicBezTo>
                    <a:pt x="72009" y="12700"/>
                    <a:pt x="12700" y="72009"/>
                    <a:pt x="12700" y="145288"/>
                  </a:cubicBezTo>
                  <a:close/>
                </a:path>
              </a:pathLst>
            </a:custGeom>
            <a:solidFill>
              <a:srgbClr val="D1C8C6"/>
            </a:solidFill>
          </p:spPr>
        </p:sp>
      </p:grpSp>
      <p:grpSp>
        <p:nvGrpSpPr>
          <p:cNvPr name="Group 18" id="18"/>
          <p:cNvGrpSpPr/>
          <p:nvPr/>
        </p:nvGrpSpPr>
        <p:grpSpPr>
          <a:xfrm rot="0">
            <a:off x="5387578" y="3485998"/>
            <a:ext cx="744141" cy="744141"/>
            <a:chOff x="0" y="0"/>
            <a:chExt cx="992188" cy="992188"/>
          </a:xfrm>
        </p:grpSpPr>
        <p:sp>
          <p:nvSpPr>
            <p:cNvPr name="Freeform 19" id="19"/>
            <p:cNvSpPr/>
            <p:nvPr/>
          </p:nvSpPr>
          <p:spPr>
            <a:xfrm flipH="false" flipV="false" rot="0">
              <a:off x="0" y="0"/>
              <a:ext cx="992251" cy="992251"/>
            </a:xfrm>
            <a:custGeom>
              <a:avLst/>
              <a:gdLst/>
              <a:ahLst/>
              <a:cxnLst/>
              <a:rect r="r" b="b" t="t" l="l"/>
              <a:pathLst>
                <a:path h="992251" w="992251">
                  <a:moveTo>
                    <a:pt x="0" y="496062"/>
                  </a:moveTo>
                  <a:cubicBezTo>
                    <a:pt x="0" y="222123"/>
                    <a:pt x="222123" y="0"/>
                    <a:pt x="496062" y="0"/>
                  </a:cubicBezTo>
                  <a:cubicBezTo>
                    <a:pt x="770001" y="0"/>
                    <a:pt x="992251" y="222123"/>
                    <a:pt x="992251" y="496062"/>
                  </a:cubicBezTo>
                  <a:cubicBezTo>
                    <a:pt x="992251" y="770001"/>
                    <a:pt x="770128" y="992251"/>
                    <a:pt x="496062" y="992251"/>
                  </a:cubicBezTo>
                  <a:cubicBezTo>
                    <a:pt x="221996" y="992251"/>
                    <a:pt x="0" y="770128"/>
                    <a:pt x="0" y="496062"/>
                  </a:cubicBezTo>
                  <a:close/>
                </a:path>
              </a:pathLst>
            </a:custGeom>
            <a:solidFill>
              <a:srgbClr val="835E54"/>
            </a:solidFill>
          </p:spPr>
        </p:sp>
      </p:grpSp>
      <p:sp>
        <p:nvSpPr>
          <p:cNvPr name="Freeform 20" id="20" descr="preencoded.png"/>
          <p:cNvSpPr/>
          <p:nvPr/>
        </p:nvSpPr>
        <p:spPr>
          <a:xfrm flipH="false" flipV="false" rot="0">
            <a:off x="5592213" y="3690490"/>
            <a:ext cx="334861" cy="334861"/>
          </a:xfrm>
          <a:custGeom>
            <a:avLst/>
            <a:gdLst/>
            <a:ahLst/>
            <a:cxnLst/>
            <a:rect r="r" b="b" t="t" l="l"/>
            <a:pathLst>
              <a:path h="334861" w="334861">
                <a:moveTo>
                  <a:pt x="0" y="0"/>
                </a:moveTo>
                <a:lnTo>
                  <a:pt x="334861" y="0"/>
                </a:lnTo>
                <a:lnTo>
                  <a:pt x="334861" y="334861"/>
                </a:lnTo>
                <a:lnTo>
                  <a:pt x="0" y="334861"/>
                </a:lnTo>
                <a:lnTo>
                  <a:pt x="0" y="0"/>
                </a:lnTo>
                <a:close/>
              </a:path>
            </a:pathLst>
          </a:custGeom>
          <a:blipFill>
            <a:blip r:embed="rId5">
              <a:extLst>
                <a:ext uri="{96DAC541-7B7A-43D3-8B79-37D633B846F1}">
                  <asvg:svgBlip xmlns:asvg="http://schemas.microsoft.com/office/drawing/2016/SVG/main" r:embed="rId6"/>
                </a:ext>
              </a:extLst>
            </a:blip>
            <a:stretch>
              <a:fillRect l="0" t="-6943" r="0" b="-6946"/>
            </a:stretch>
          </a:blipFill>
        </p:spPr>
      </p:sp>
      <p:sp>
        <p:nvSpPr>
          <p:cNvPr name="TextBox 21" id="21"/>
          <p:cNvSpPr txBox="true"/>
          <p:nvPr/>
        </p:nvSpPr>
        <p:spPr>
          <a:xfrm rot="0">
            <a:off x="5387578" y="4468568"/>
            <a:ext cx="3101130" cy="397221"/>
          </a:xfrm>
          <a:prstGeom prst="rect">
            <a:avLst/>
          </a:prstGeom>
        </p:spPr>
        <p:txBody>
          <a:bodyPr anchor="t" rtlCol="false" tIns="0" lIns="0" bIns="0" rIns="0">
            <a:spAutoFit/>
          </a:bodyPr>
          <a:lstStyle/>
          <a:p>
            <a:pPr algn="l">
              <a:lnSpc>
                <a:spcPts val="2999"/>
              </a:lnSpc>
            </a:pPr>
            <a:r>
              <a:rPr lang="en-US" sz="2437" b="true">
                <a:solidFill>
                  <a:srgbClr val="443728"/>
                </a:solidFill>
                <a:latin typeface="Crimson Pro Bold"/>
                <a:ea typeface="Crimson Pro Bold"/>
                <a:cs typeface="Crimson Pro Bold"/>
                <a:sym typeface="Crimson Pro Bold"/>
              </a:rPr>
              <a:t>models.py</a:t>
            </a:r>
          </a:p>
        </p:txBody>
      </p:sp>
      <p:sp>
        <p:nvSpPr>
          <p:cNvPr name="TextBox 22" id="22"/>
          <p:cNvSpPr txBox="true"/>
          <p:nvPr/>
        </p:nvSpPr>
        <p:spPr>
          <a:xfrm rot="0">
            <a:off x="5387578" y="4928892"/>
            <a:ext cx="3374974" cy="2070344"/>
          </a:xfrm>
          <a:prstGeom prst="rect">
            <a:avLst/>
          </a:prstGeom>
        </p:spPr>
        <p:txBody>
          <a:bodyPr anchor="t" rtlCol="false" tIns="0" lIns="0" bIns="0" rIns="0">
            <a:spAutoFit/>
          </a:bodyPr>
          <a:lstStyle/>
          <a:p>
            <a:pPr algn="l">
              <a:lnSpc>
                <a:spcPts val="3125"/>
              </a:lnSpc>
            </a:pPr>
            <a:r>
              <a:rPr lang="en-US" sz="1937">
                <a:solidFill>
                  <a:srgbClr val="443728"/>
                </a:solidFill>
                <a:latin typeface="Open Sans"/>
                <a:ea typeface="Open Sans"/>
                <a:cs typeface="Open Sans"/>
                <a:sym typeface="Open Sans"/>
              </a:rPr>
              <a:t>Defines SQLAlchemy ORM models for User and Message tables with relationships and constraints.</a:t>
            </a:r>
          </a:p>
        </p:txBody>
      </p:sp>
      <p:grpSp>
        <p:nvGrpSpPr>
          <p:cNvPr name="Group 23" id="23"/>
          <p:cNvGrpSpPr/>
          <p:nvPr/>
        </p:nvGrpSpPr>
        <p:grpSpPr>
          <a:xfrm rot="0">
            <a:off x="9263215" y="3223765"/>
            <a:ext cx="3899449" cy="4037705"/>
            <a:chOff x="0" y="0"/>
            <a:chExt cx="5199266" cy="5383606"/>
          </a:xfrm>
        </p:grpSpPr>
        <p:sp>
          <p:nvSpPr>
            <p:cNvPr name="Freeform 24" id="24"/>
            <p:cNvSpPr/>
            <p:nvPr/>
          </p:nvSpPr>
          <p:spPr>
            <a:xfrm flipH="false" flipV="false" rot="0">
              <a:off x="6350" y="6350"/>
              <a:ext cx="5186553" cy="5370830"/>
            </a:xfrm>
            <a:custGeom>
              <a:avLst/>
              <a:gdLst/>
              <a:ahLst/>
              <a:cxnLst/>
              <a:rect r="r" b="b" t="t" l="l"/>
              <a:pathLst>
                <a:path h="5370830" w="5186553">
                  <a:moveTo>
                    <a:pt x="0" y="138938"/>
                  </a:moveTo>
                  <a:cubicBezTo>
                    <a:pt x="0" y="62230"/>
                    <a:pt x="62230" y="0"/>
                    <a:pt x="138938" y="0"/>
                  </a:cubicBezTo>
                  <a:lnTo>
                    <a:pt x="5047615" y="0"/>
                  </a:lnTo>
                  <a:cubicBezTo>
                    <a:pt x="5124323" y="0"/>
                    <a:pt x="5186553" y="62230"/>
                    <a:pt x="5186553" y="138938"/>
                  </a:cubicBezTo>
                  <a:lnTo>
                    <a:pt x="5186553" y="5231892"/>
                  </a:lnTo>
                  <a:cubicBezTo>
                    <a:pt x="5186553" y="5308600"/>
                    <a:pt x="5124323" y="5370830"/>
                    <a:pt x="5047615" y="5370830"/>
                  </a:cubicBezTo>
                  <a:lnTo>
                    <a:pt x="138938" y="5370830"/>
                  </a:lnTo>
                  <a:cubicBezTo>
                    <a:pt x="62230" y="5370957"/>
                    <a:pt x="0" y="5308727"/>
                    <a:pt x="0" y="5231892"/>
                  </a:cubicBezTo>
                  <a:close/>
                </a:path>
              </a:pathLst>
            </a:custGeom>
            <a:solidFill>
              <a:srgbClr val="EBE2E0"/>
            </a:solidFill>
          </p:spPr>
        </p:sp>
        <p:sp>
          <p:nvSpPr>
            <p:cNvPr name="Freeform 25" id="25"/>
            <p:cNvSpPr/>
            <p:nvPr/>
          </p:nvSpPr>
          <p:spPr>
            <a:xfrm flipH="false" flipV="false" rot="0">
              <a:off x="0" y="0"/>
              <a:ext cx="5199253" cy="5383530"/>
            </a:xfrm>
            <a:custGeom>
              <a:avLst/>
              <a:gdLst/>
              <a:ahLst/>
              <a:cxnLst/>
              <a:rect r="r" b="b" t="t" l="l"/>
              <a:pathLst>
                <a:path h="5383530" w="5199253">
                  <a:moveTo>
                    <a:pt x="0" y="145288"/>
                  </a:moveTo>
                  <a:cubicBezTo>
                    <a:pt x="0" y="65024"/>
                    <a:pt x="65024" y="0"/>
                    <a:pt x="145288" y="0"/>
                  </a:cubicBezTo>
                  <a:lnTo>
                    <a:pt x="5053965" y="0"/>
                  </a:lnTo>
                  <a:lnTo>
                    <a:pt x="5053965" y="6350"/>
                  </a:lnTo>
                  <a:lnTo>
                    <a:pt x="5053965" y="0"/>
                  </a:lnTo>
                  <a:cubicBezTo>
                    <a:pt x="5134229" y="0"/>
                    <a:pt x="5199253" y="65024"/>
                    <a:pt x="5199253" y="145288"/>
                  </a:cubicBezTo>
                  <a:lnTo>
                    <a:pt x="5192903" y="145288"/>
                  </a:lnTo>
                  <a:lnTo>
                    <a:pt x="5199253" y="145288"/>
                  </a:lnTo>
                  <a:lnTo>
                    <a:pt x="5199253" y="5238242"/>
                  </a:lnTo>
                  <a:lnTo>
                    <a:pt x="5192903" y="5238242"/>
                  </a:lnTo>
                  <a:lnTo>
                    <a:pt x="5199253" y="5238242"/>
                  </a:lnTo>
                  <a:cubicBezTo>
                    <a:pt x="5199253" y="5318506"/>
                    <a:pt x="5134229" y="5383530"/>
                    <a:pt x="5053965" y="5383530"/>
                  </a:cubicBezTo>
                  <a:lnTo>
                    <a:pt x="5053965" y="5377180"/>
                  </a:lnTo>
                  <a:lnTo>
                    <a:pt x="5053965" y="5383530"/>
                  </a:lnTo>
                  <a:lnTo>
                    <a:pt x="145288" y="5383530"/>
                  </a:lnTo>
                  <a:lnTo>
                    <a:pt x="145288" y="5377180"/>
                  </a:lnTo>
                  <a:lnTo>
                    <a:pt x="145288" y="5383530"/>
                  </a:lnTo>
                  <a:cubicBezTo>
                    <a:pt x="65024" y="5383657"/>
                    <a:pt x="0" y="5318506"/>
                    <a:pt x="0" y="5238242"/>
                  </a:cubicBezTo>
                  <a:lnTo>
                    <a:pt x="0" y="145288"/>
                  </a:lnTo>
                  <a:lnTo>
                    <a:pt x="6350" y="145288"/>
                  </a:lnTo>
                  <a:lnTo>
                    <a:pt x="0" y="145288"/>
                  </a:lnTo>
                  <a:moveTo>
                    <a:pt x="12700" y="145288"/>
                  </a:moveTo>
                  <a:lnTo>
                    <a:pt x="12700" y="5238242"/>
                  </a:lnTo>
                  <a:lnTo>
                    <a:pt x="6350" y="5238242"/>
                  </a:lnTo>
                  <a:lnTo>
                    <a:pt x="12700" y="5238242"/>
                  </a:lnTo>
                  <a:cubicBezTo>
                    <a:pt x="12700" y="5311521"/>
                    <a:pt x="72009" y="5370830"/>
                    <a:pt x="145288" y="5370830"/>
                  </a:cubicBezTo>
                  <a:lnTo>
                    <a:pt x="5053965" y="5370830"/>
                  </a:lnTo>
                  <a:cubicBezTo>
                    <a:pt x="5127244" y="5370830"/>
                    <a:pt x="5186553" y="5311521"/>
                    <a:pt x="5186553" y="5238242"/>
                  </a:cubicBezTo>
                  <a:lnTo>
                    <a:pt x="5186553" y="145288"/>
                  </a:lnTo>
                  <a:cubicBezTo>
                    <a:pt x="5186553" y="72009"/>
                    <a:pt x="5127244" y="12700"/>
                    <a:pt x="5053965" y="12700"/>
                  </a:cubicBezTo>
                  <a:lnTo>
                    <a:pt x="145288" y="12700"/>
                  </a:lnTo>
                  <a:lnTo>
                    <a:pt x="145288" y="6350"/>
                  </a:lnTo>
                  <a:lnTo>
                    <a:pt x="145288" y="12700"/>
                  </a:lnTo>
                  <a:cubicBezTo>
                    <a:pt x="72009" y="12700"/>
                    <a:pt x="12700" y="72009"/>
                    <a:pt x="12700" y="145288"/>
                  </a:cubicBezTo>
                  <a:close/>
                </a:path>
              </a:pathLst>
            </a:custGeom>
            <a:solidFill>
              <a:srgbClr val="D1C8C6"/>
            </a:solidFill>
          </p:spPr>
        </p:sp>
      </p:grpSp>
      <p:grpSp>
        <p:nvGrpSpPr>
          <p:cNvPr name="Group 26" id="26"/>
          <p:cNvGrpSpPr/>
          <p:nvPr/>
        </p:nvGrpSpPr>
        <p:grpSpPr>
          <a:xfrm rot="0">
            <a:off x="9525448" y="3485998"/>
            <a:ext cx="744141" cy="744141"/>
            <a:chOff x="0" y="0"/>
            <a:chExt cx="992188" cy="992188"/>
          </a:xfrm>
        </p:grpSpPr>
        <p:sp>
          <p:nvSpPr>
            <p:cNvPr name="Freeform 27" id="27"/>
            <p:cNvSpPr/>
            <p:nvPr/>
          </p:nvSpPr>
          <p:spPr>
            <a:xfrm flipH="false" flipV="false" rot="0">
              <a:off x="0" y="0"/>
              <a:ext cx="992251" cy="992251"/>
            </a:xfrm>
            <a:custGeom>
              <a:avLst/>
              <a:gdLst/>
              <a:ahLst/>
              <a:cxnLst/>
              <a:rect r="r" b="b" t="t" l="l"/>
              <a:pathLst>
                <a:path h="992251" w="992251">
                  <a:moveTo>
                    <a:pt x="0" y="496062"/>
                  </a:moveTo>
                  <a:cubicBezTo>
                    <a:pt x="0" y="222123"/>
                    <a:pt x="222123" y="0"/>
                    <a:pt x="496062" y="0"/>
                  </a:cubicBezTo>
                  <a:cubicBezTo>
                    <a:pt x="770001" y="0"/>
                    <a:pt x="992251" y="222123"/>
                    <a:pt x="992251" y="496062"/>
                  </a:cubicBezTo>
                  <a:cubicBezTo>
                    <a:pt x="992251" y="770001"/>
                    <a:pt x="770128" y="992251"/>
                    <a:pt x="496062" y="992251"/>
                  </a:cubicBezTo>
                  <a:cubicBezTo>
                    <a:pt x="221996" y="992251"/>
                    <a:pt x="0" y="770128"/>
                    <a:pt x="0" y="496062"/>
                  </a:cubicBezTo>
                  <a:close/>
                </a:path>
              </a:pathLst>
            </a:custGeom>
            <a:solidFill>
              <a:srgbClr val="835E54"/>
            </a:solidFill>
          </p:spPr>
        </p:sp>
      </p:grpSp>
      <p:sp>
        <p:nvSpPr>
          <p:cNvPr name="Freeform 28" id="28" descr="preencoded.png"/>
          <p:cNvSpPr/>
          <p:nvPr/>
        </p:nvSpPr>
        <p:spPr>
          <a:xfrm flipH="false" flipV="false" rot="0">
            <a:off x="9730083" y="3690490"/>
            <a:ext cx="334861" cy="334861"/>
          </a:xfrm>
          <a:custGeom>
            <a:avLst/>
            <a:gdLst/>
            <a:ahLst/>
            <a:cxnLst/>
            <a:rect r="r" b="b" t="t" l="l"/>
            <a:pathLst>
              <a:path h="334861" w="334861">
                <a:moveTo>
                  <a:pt x="0" y="0"/>
                </a:moveTo>
                <a:lnTo>
                  <a:pt x="334861" y="0"/>
                </a:lnTo>
                <a:lnTo>
                  <a:pt x="334861" y="334861"/>
                </a:lnTo>
                <a:lnTo>
                  <a:pt x="0" y="334861"/>
                </a:lnTo>
                <a:lnTo>
                  <a:pt x="0" y="0"/>
                </a:lnTo>
                <a:close/>
              </a:path>
            </a:pathLst>
          </a:custGeom>
          <a:blipFill>
            <a:blip r:embed="rId7">
              <a:extLst>
                <a:ext uri="{96DAC541-7B7A-43D3-8B79-37D633B846F1}">
                  <asvg:svgBlip xmlns:asvg="http://schemas.microsoft.com/office/drawing/2016/SVG/main" r:embed="rId8"/>
                </a:ext>
              </a:extLst>
            </a:blip>
            <a:stretch>
              <a:fillRect l="0" t="-9722" r="0" b="-9722"/>
            </a:stretch>
          </a:blipFill>
        </p:spPr>
      </p:sp>
      <p:sp>
        <p:nvSpPr>
          <p:cNvPr name="TextBox 29" id="29"/>
          <p:cNvSpPr txBox="true"/>
          <p:nvPr/>
        </p:nvSpPr>
        <p:spPr>
          <a:xfrm rot="0">
            <a:off x="9525448" y="4468568"/>
            <a:ext cx="3111703" cy="397221"/>
          </a:xfrm>
          <a:prstGeom prst="rect">
            <a:avLst/>
          </a:prstGeom>
        </p:spPr>
        <p:txBody>
          <a:bodyPr anchor="t" rtlCol="false" tIns="0" lIns="0" bIns="0" rIns="0">
            <a:spAutoFit/>
          </a:bodyPr>
          <a:lstStyle/>
          <a:p>
            <a:pPr algn="l">
              <a:lnSpc>
                <a:spcPts val="2999"/>
              </a:lnSpc>
            </a:pPr>
            <a:r>
              <a:rPr lang="en-US" sz="2437" b="true">
                <a:solidFill>
                  <a:srgbClr val="443728"/>
                </a:solidFill>
                <a:latin typeface="Crimson Pro Bold"/>
                <a:ea typeface="Crimson Pro Bold"/>
                <a:cs typeface="Crimson Pro Bold"/>
                <a:sym typeface="Crimson Pro Bold"/>
              </a:rPr>
              <a:t>websocket_manager.py</a:t>
            </a:r>
          </a:p>
        </p:txBody>
      </p:sp>
      <p:sp>
        <p:nvSpPr>
          <p:cNvPr name="TextBox 30" id="30"/>
          <p:cNvSpPr txBox="true"/>
          <p:nvPr/>
        </p:nvSpPr>
        <p:spPr>
          <a:xfrm rot="0">
            <a:off x="9525448" y="4928892"/>
            <a:ext cx="3374974" cy="2070344"/>
          </a:xfrm>
          <a:prstGeom prst="rect">
            <a:avLst/>
          </a:prstGeom>
        </p:spPr>
        <p:txBody>
          <a:bodyPr anchor="t" rtlCol="false" tIns="0" lIns="0" bIns="0" rIns="0">
            <a:spAutoFit/>
          </a:bodyPr>
          <a:lstStyle/>
          <a:p>
            <a:pPr algn="l">
              <a:lnSpc>
                <a:spcPts val="3125"/>
              </a:lnSpc>
            </a:pPr>
            <a:r>
              <a:rPr lang="en-US" sz="1937">
                <a:solidFill>
                  <a:srgbClr val="443728"/>
                </a:solidFill>
                <a:latin typeface="Open Sans"/>
                <a:ea typeface="Open Sans"/>
                <a:cs typeface="Open Sans"/>
                <a:sym typeface="Open Sans"/>
              </a:rPr>
              <a:t>Manages active WebSocket connections, handles message routing, and maintains connection registry.</a:t>
            </a:r>
          </a:p>
        </p:txBody>
      </p:sp>
      <p:grpSp>
        <p:nvGrpSpPr>
          <p:cNvPr name="Group 31" id="31"/>
          <p:cNvGrpSpPr/>
          <p:nvPr/>
        </p:nvGrpSpPr>
        <p:grpSpPr>
          <a:xfrm rot="0">
            <a:off x="13401084" y="3223765"/>
            <a:ext cx="3899449" cy="4037705"/>
            <a:chOff x="0" y="0"/>
            <a:chExt cx="5199266" cy="5383606"/>
          </a:xfrm>
        </p:grpSpPr>
        <p:sp>
          <p:nvSpPr>
            <p:cNvPr name="Freeform 32" id="32"/>
            <p:cNvSpPr/>
            <p:nvPr/>
          </p:nvSpPr>
          <p:spPr>
            <a:xfrm flipH="false" flipV="false" rot="0">
              <a:off x="6350" y="6350"/>
              <a:ext cx="5186553" cy="5370830"/>
            </a:xfrm>
            <a:custGeom>
              <a:avLst/>
              <a:gdLst/>
              <a:ahLst/>
              <a:cxnLst/>
              <a:rect r="r" b="b" t="t" l="l"/>
              <a:pathLst>
                <a:path h="5370830" w="5186553">
                  <a:moveTo>
                    <a:pt x="0" y="138938"/>
                  </a:moveTo>
                  <a:cubicBezTo>
                    <a:pt x="0" y="62230"/>
                    <a:pt x="62230" y="0"/>
                    <a:pt x="138938" y="0"/>
                  </a:cubicBezTo>
                  <a:lnTo>
                    <a:pt x="5047615" y="0"/>
                  </a:lnTo>
                  <a:cubicBezTo>
                    <a:pt x="5124323" y="0"/>
                    <a:pt x="5186553" y="62230"/>
                    <a:pt x="5186553" y="138938"/>
                  </a:cubicBezTo>
                  <a:lnTo>
                    <a:pt x="5186553" y="5231892"/>
                  </a:lnTo>
                  <a:cubicBezTo>
                    <a:pt x="5186553" y="5308600"/>
                    <a:pt x="5124323" y="5370830"/>
                    <a:pt x="5047615" y="5370830"/>
                  </a:cubicBezTo>
                  <a:lnTo>
                    <a:pt x="138938" y="5370830"/>
                  </a:lnTo>
                  <a:cubicBezTo>
                    <a:pt x="62230" y="5370957"/>
                    <a:pt x="0" y="5308727"/>
                    <a:pt x="0" y="5231892"/>
                  </a:cubicBezTo>
                  <a:close/>
                </a:path>
              </a:pathLst>
            </a:custGeom>
            <a:solidFill>
              <a:srgbClr val="EBE2E0"/>
            </a:solidFill>
          </p:spPr>
        </p:sp>
        <p:sp>
          <p:nvSpPr>
            <p:cNvPr name="Freeform 33" id="33"/>
            <p:cNvSpPr/>
            <p:nvPr/>
          </p:nvSpPr>
          <p:spPr>
            <a:xfrm flipH="false" flipV="false" rot="0">
              <a:off x="0" y="0"/>
              <a:ext cx="5199253" cy="5383530"/>
            </a:xfrm>
            <a:custGeom>
              <a:avLst/>
              <a:gdLst/>
              <a:ahLst/>
              <a:cxnLst/>
              <a:rect r="r" b="b" t="t" l="l"/>
              <a:pathLst>
                <a:path h="5383530" w="5199253">
                  <a:moveTo>
                    <a:pt x="0" y="145288"/>
                  </a:moveTo>
                  <a:cubicBezTo>
                    <a:pt x="0" y="65024"/>
                    <a:pt x="65024" y="0"/>
                    <a:pt x="145288" y="0"/>
                  </a:cubicBezTo>
                  <a:lnTo>
                    <a:pt x="5053965" y="0"/>
                  </a:lnTo>
                  <a:lnTo>
                    <a:pt x="5053965" y="6350"/>
                  </a:lnTo>
                  <a:lnTo>
                    <a:pt x="5053965" y="0"/>
                  </a:lnTo>
                  <a:cubicBezTo>
                    <a:pt x="5134229" y="0"/>
                    <a:pt x="5199253" y="65024"/>
                    <a:pt x="5199253" y="145288"/>
                  </a:cubicBezTo>
                  <a:lnTo>
                    <a:pt x="5192903" y="145288"/>
                  </a:lnTo>
                  <a:lnTo>
                    <a:pt x="5199253" y="145288"/>
                  </a:lnTo>
                  <a:lnTo>
                    <a:pt x="5199253" y="5238242"/>
                  </a:lnTo>
                  <a:lnTo>
                    <a:pt x="5192903" y="5238242"/>
                  </a:lnTo>
                  <a:lnTo>
                    <a:pt x="5199253" y="5238242"/>
                  </a:lnTo>
                  <a:cubicBezTo>
                    <a:pt x="5199253" y="5318506"/>
                    <a:pt x="5134229" y="5383530"/>
                    <a:pt x="5053965" y="5383530"/>
                  </a:cubicBezTo>
                  <a:lnTo>
                    <a:pt x="5053965" y="5377180"/>
                  </a:lnTo>
                  <a:lnTo>
                    <a:pt x="5053965" y="5383530"/>
                  </a:lnTo>
                  <a:lnTo>
                    <a:pt x="145288" y="5383530"/>
                  </a:lnTo>
                  <a:lnTo>
                    <a:pt x="145288" y="5377180"/>
                  </a:lnTo>
                  <a:lnTo>
                    <a:pt x="145288" y="5383530"/>
                  </a:lnTo>
                  <a:cubicBezTo>
                    <a:pt x="65024" y="5383657"/>
                    <a:pt x="0" y="5318506"/>
                    <a:pt x="0" y="5238242"/>
                  </a:cubicBezTo>
                  <a:lnTo>
                    <a:pt x="0" y="145288"/>
                  </a:lnTo>
                  <a:lnTo>
                    <a:pt x="6350" y="145288"/>
                  </a:lnTo>
                  <a:lnTo>
                    <a:pt x="0" y="145288"/>
                  </a:lnTo>
                  <a:moveTo>
                    <a:pt x="12700" y="145288"/>
                  </a:moveTo>
                  <a:lnTo>
                    <a:pt x="12700" y="5238242"/>
                  </a:lnTo>
                  <a:lnTo>
                    <a:pt x="6350" y="5238242"/>
                  </a:lnTo>
                  <a:lnTo>
                    <a:pt x="12700" y="5238242"/>
                  </a:lnTo>
                  <a:cubicBezTo>
                    <a:pt x="12700" y="5311521"/>
                    <a:pt x="72009" y="5370830"/>
                    <a:pt x="145288" y="5370830"/>
                  </a:cubicBezTo>
                  <a:lnTo>
                    <a:pt x="5053965" y="5370830"/>
                  </a:lnTo>
                  <a:cubicBezTo>
                    <a:pt x="5127244" y="5370830"/>
                    <a:pt x="5186553" y="5311521"/>
                    <a:pt x="5186553" y="5238242"/>
                  </a:cubicBezTo>
                  <a:lnTo>
                    <a:pt x="5186553" y="145288"/>
                  </a:lnTo>
                  <a:cubicBezTo>
                    <a:pt x="5186553" y="72009"/>
                    <a:pt x="5127244" y="12700"/>
                    <a:pt x="5053965" y="12700"/>
                  </a:cubicBezTo>
                  <a:lnTo>
                    <a:pt x="145288" y="12700"/>
                  </a:lnTo>
                  <a:lnTo>
                    <a:pt x="145288" y="6350"/>
                  </a:lnTo>
                  <a:lnTo>
                    <a:pt x="145288" y="12700"/>
                  </a:lnTo>
                  <a:cubicBezTo>
                    <a:pt x="72009" y="12700"/>
                    <a:pt x="12700" y="72009"/>
                    <a:pt x="12700" y="145288"/>
                  </a:cubicBezTo>
                  <a:close/>
                </a:path>
              </a:pathLst>
            </a:custGeom>
            <a:solidFill>
              <a:srgbClr val="D1C8C6"/>
            </a:solidFill>
          </p:spPr>
        </p:sp>
      </p:grpSp>
      <p:grpSp>
        <p:nvGrpSpPr>
          <p:cNvPr name="Group 34" id="34"/>
          <p:cNvGrpSpPr/>
          <p:nvPr/>
        </p:nvGrpSpPr>
        <p:grpSpPr>
          <a:xfrm rot="0">
            <a:off x="13663317" y="3485998"/>
            <a:ext cx="744141" cy="744141"/>
            <a:chOff x="0" y="0"/>
            <a:chExt cx="992188" cy="992188"/>
          </a:xfrm>
        </p:grpSpPr>
        <p:sp>
          <p:nvSpPr>
            <p:cNvPr name="Freeform 35" id="35"/>
            <p:cNvSpPr/>
            <p:nvPr/>
          </p:nvSpPr>
          <p:spPr>
            <a:xfrm flipH="false" flipV="false" rot="0">
              <a:off x="0" y="0"/>
              <a:ext cx="992251" cy="992251"/>
            </a:xfrm>
            <a:custGeom>
              <a:avLst/>
              <a:gdLst/>
              <a:ahLst/>
              <a:cxnLst/>
              <a:rect r="r" b="b" t="t" l="l"/>
              <a:pathLst>
                <a:path h="992251" w="992251">
                  <a:moveTo>
                    <a:pt x="0" y="496062"/>
                  </a:moveTo>
                  <a:cubicBezTo>
                    <a:pt x="0" y="222123"/>
                    <a:pt x="222123" y="0"/>
                    <a:pt x="496062" y="0"/>
                  </a:cubicBezTo>
                  <a:cubicBezTo>
                    <a:pt x="770001" y="0"/>
                    <a:pt x="992251" y="222123"/>
                    <a:pt x="992251" y="496062"/>
                  </a:cubicBezTo>
                  <a:cubicBezTo>
                    <a:pt x="992251" y="770001"/>
                    <a:pt x="770128" y="992251"/>
                    <a:pt x="496062" y="992251"/>
                  </a:cubicBezTo>
                  <a:cubicBezTo>
                    <a:pt x="221996" y="992251"/>
                    <a:pt x="0" y="770128"/>
                    <a:pt x="0" y="496062"/>
                  </a:cubicBezTo>
                  <a:close/>
                </a:path>
              </a:pathLst>
            </a:custGeom>
            <a:solidFill>
              <a:srgbClr val="835E54"/>
            </a:solidFill>
          </p:spPr>
        </p:sp>
      </p:grpSp>
      <p:sp>
        <p:nvSpPr>
          <p:cNvPr name="Freeform 36" id="36" descr="preencoded.png"/>
          <p:cNvSpPr/>
          <p:nvPr/>
        </p:nvSpPr>
        <p:spPr>
          <a:xfrm flipH="false" flipV="false" rot="0">
            <a:off x="13867952" y="3690490"/>
            <a:ext cx="334861" cy="334861"/>
          </a:xfrm>
          <a:custGeom>
            <a:avLst/>
            <a:gdLst/>
            <a:ahLst/>
            <a:cxnLst/>
            <a:rect r="r" b="b" t="t" l="l"/>
            <a:pathLst>
              <a:path h="334861" w="334861">
                <a:moveTo>
                  <a:pt x="0" y="0"/>
                </a:moveTo>
                <a:lnTo>
                  <a:pt x="334861" y="0"/>
                </a:lnTo>
                <a:lnTo>
                  <a:pt x="334861" y="334861"/>
                </a:lnTo>
                <a:lnTo>
                  <a:pt x="0" y="33486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37" id="37"/>
          <p:cNvSpPr txBox="true"/>
          <p:nvPr/>
        </p:nvSpPr>
        <p:spPr>
          <a:xfrm rot="0">
            <a:off x="13663317" y="4468568"/>
            <a:ext cx="3101130" cy="397221"/>
          </a:xfrm>
          <a:prstGeom prst="rect">
            <a:avLst/>
          </a:prstGeom>
        </p:spPr>
        <p:txBody>
          <a:bodyPr anchor="t" rtlCol="false" tIns="0" lIns="0" bIns="0" rIns="0">
            <a:spAutoFit/>
          </a:bodyPr>
          <a:lstStyle/>
          <a:p>
            <a:pPr algn="l">
              <a:lnSpc>
                <a:spcPts val="2999"/>
              </a:lnSpc>
            </a:pPr>
            <a:r>
              <a:rPr lang="en-US" sz="2437" b="true">
                <a:solidFill>
                  <a:srgbClr val="443728"/>
                </a:solidFill>
                <a:latin typeface="Crimson Pro Bold"/>
                <a:ea typeface="Crimson Pro Bold"/>
                <a:cs typeface="Crimson Pro Bold"/>
                <a:sym typeface="Crimson Pro Bold"/>
              </a:rPr>
              <a:t>history.py</a:t>
            </a:r>
          </a:p>
        </p:txBody>
      </p:sp>
      <p:sp>
        <p:nvSpPr>
          <p:cNvPr name="TextBox 38" id="38"/>
          <p:cNvSpPr txBox="true"/>
          <p:nvPr/>
        </p:nvSpPr>
        <p:spPr>
          <a:xfrm rot="0">
            <a:off x="13663317" y="4928892"/>
            <a:ext cx="3374974" cy="1673428"/>
          </a:xfrm>
          <a:prstGeom prst="rect">
            <a:avLst/>
          </a:prstGeom>
        </p:spPr>
        <p:txBody>
          <a:bodyPr anchor="t" rtlCol="false" tIns="0" lIns="0" bIns="0" rIns="0">
            <a:spAutoFit/>
          </a:bodyPr>
          <a:lstStyle/>
          <a:p>
            <a:pPr algn="l">
              <a:lnSpc>
                <a:spcPts val="3125"/>
              </a:lnSpc>
            </a:pPr>
            <a:r>
              <a:rPr lang="en-US" sz="1937">
                <a:solidFill>
                  <a:srgbClr val="443728"/>
                </a:solidFill>
                <a:latin typeface="Open Sans"/>
                <a:ea typeface="Open Sans"/>
                <a:cs typeface="Open Sans"/>
                <a:sym typeface="Open Sans"/>
              </a:rPr>
              <a:t>Provides endpoints for retrieving persistent chat history from database with pagination support.</a:t>
            </a:r>
          </a:p>
        </p:txBody>
      </p:sp>
      <p:sp>
        <p:nvSpPr>
          <p:cNvPr name="TextBox 39" id="39"/>
          <p:cNvSpPr txBox="true"/>
          <p:nvPr/>
        </p:nvSpPr>
        <p:spPr>
          <a:xfrm rot="0">
            <a:off x="992238" y="7450036"/>
            <a:ext cx="16303523" cy="879577"/>
          </a:xfrm>
          <a:prstGeom prst="rect">
            <a:avLst/>
          </a:prstGeom>
        </p:spPr>
        <p:txBody>
          <a:bodyPr anchor="t" rtlCol="false" tIns="0" lIns="0" bIns="0" rIns="0">
            <a:spAutoFit/>
          </a:bodyPr>
          <a:lstStyle/>
          <a:p>
            <a:pPr algn="l">
              <a:lnSpc>
                <a:spcPts val="3125"/>
              </a:lnSpc>
            </a:pPr>
            <a:r>
              <a:rPr lang="en-US" sz="1937">
                <a:solidFill>
                  <a:srgbClr val="443728"/>
                </a:solidFill>
                <a:latin typeface="Open Sans"/>
                <a:ea typeface="Open Sans"/>
                <a:cs typeface="Open Sans"/>
                <a:sym typeface="Open Sans"/>
              </a:rPr>
              <a:t>The modular design promotes code reusability, simplifies testing, and enables independent scaling of different functional components. Each module has a single, well-defined responsibility aligned with SOLID principles.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7EDE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CFA"/>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850238" y="835971"/>
            <a:ext cx="8637537" cy="803672"/>
          </a:xfrm>
          <a:prstGeom prst="rect">
            <a:avLst/>
          </a:prstGeom>
        </p:spPr>
        <p:txBody>
          <a:bodyPr anchor="t" rtlCol="false" tIns="0" lIns="0" bIns="0" rIns="0">
            <a:spAutoFit/>
          </a:bodyPr>
          <a:lstStyle/>
          <a:p>
            <a:pPr algn="l">
              <a:lnSpc>
                <a:spcPts val="6062"/>
              </a:lnSpc>
            </a:pPr>
            <a:r>
              <a:rPr lang="en-US" sz="4875" b="true">
                <a:solidFill>
                  <a:srgbClr val="443728"/>
                </a:solidFill>
                <a:latin typeface="Crimson Pro Bold"/>
                <a:ea typeface="Crimson Pro Bold"/>
                <a:cs typeface="Crimson Pro Bold"/>
                <a:sym typeface="Crimson Pro Bold"/>
              </a:rPr>
              <a:t>Key Achievements and Learnings</a:t>
            </a:r>
          </a:p>
        </p:txBody>
      </p:sp>
      <p:sp>
        <p:nvSpPr>
          <p:cNvPr name="TextBox 9" id="9"/>
          <p:cNvSpPr txBox="true"/>
          <p:nvPr/>
        </p:nvSpPr>
        <p:spPr>
          <a:xfrm rot="0">
            <a:off x="7850238" y="2250129"/>
            <a:ext cx="3698377" cy="397221"/>
          </a:xfrm>
          <a:prstGeom prst="rect">
            <a:avLst/>
          </a:prstGeom>
        </p:spPr>
        <p:txBody>
          <a:bodyPr anchor="t" rtlCol="false" tIns="0" lIns="0" bIns="0" rIns="0">
            <a:spAutoFit/>
          </a:bodyPr>
          <a:lstStyle/>
          <a:p>
            <a:pPr algn="l">
              <a:lnSpc>
                <a:spcPts val="2999"/>
              </a:lnSpc>
            </a:pPr>
            <a:r>
              <a:rPr lang="en-US" sz="2437" b="true">
                <a:solidFill>
                  <a:srgbClr val="443728"/>
                </a:solidFill>
                <a:latin typeface="Crimson Pro Bold"/>
                <a:ea typeface="Crimson Pro Bold"/>
                <a:cs typeface="Crimson Pro Bold"/>
                <a:sym typeface="Crimson Pro Bold"/>
              </a:rPr>
              <a:t>Technical Accomplishments</a:t>
            </a:r>
          </a:p>
        </p:txBody>
      </p:sp>
      <p:sp>
        <p:nvSpPr>
          <p:cNvPr name="TextBox 10" id="10"/>
          <p:cNvSpPr txBox="true"/>
          <p:nvPr/>
        </p:nvSpPr>
        <p:spPr>
          <a:xfrm rot="0">
            <a:off x="7850238" y="2809580"/>
            <a:ext cx="4922634" cy="3521421"/>
          </a:xfrm>
          <a:prstGeom prst="rect">
            <a:avLst/>
          </a:prstGeom>
        </p:spPr>
        <p:txBody>
          <a:bodyPr anchor="t" rtlCol="false" tIns="0" lIns="0" bIns="0" rIns="0">
            <a:spAutoFit/>
          </a:bodyPr>
          <a:lstStyle/>
          <a:p>
            <a:pPr algn="l" marL="292199" indent="-146100" lvl="1">
              <a:lnSpc>
                <a:spcPts val="3125"/>
              </a:lnSpc>
              <a:buFont typeface="Arial"/>
              <a:buChar char="•"/>
            </a:pPr>
            <a:r>
              <a:rPr lang="en-US" sz="1937">
                <a:solidFill>
                  <a:srgbClr val="443728"/>
                </a:solidFill>
                <a:latin typeface="Open Sans"/>
                <a:ea typeface="Open Sans"/>
                <a:cs typeface="Open Sans"/>
                <a:sym typeface="Open Sans"/>
              </a:rPr>
              <a:t>Successfully implemented hybrid REST and WebSocket architecture</a:t>
            </a:r>
          </a:p>
          <a:p>
            <a:pPr algn="l" marL="292199" indent="-146100" lvl="1">
              <a:lnSpc>
                <a:spcPts val="3125"/>
              </a:lnSpc>
              <a:buFont typeface="Arial"/>
              <a:buChar char="•"/>
            </a:pPr>
            <a:r>
              <a:rPr lang="en-US" sz="1937">
                <a:solidFill>
                  <a:srgbClr val="443728"/>
                </a:solidFill>
                <a:latin typeface="Open Sans"/>
                <a:ea typeface="Open Sans"/>
                <a:cs typeface="Open Sans"/>
                <a:sym typeface="Open Sans"/>
              </a:rPr>
              <a:t>Achieved real-time message delivery with minimal latency</a:t>
            </a:r>
          </a:p>
          <a:p>
            <a:pPr algn="l" marL="292199" indent="-146100" lvl="1">
              <a:lnSpc>
                <a:spcPts val="3125"/>
              </a:lnSpc>
              <a:buFont typeface="Arial"/>
              <a:buChar char="•"/>
            </a:pPr>
            <a:r>
              <a:rPr lang="en-US" sz="1937">
                <a:solidFill>
                  <a:srgbClr val="443728"/>
                </a:solidFill>
                <a:latin typeface="Open Sans"/>
                <a:ea typeface="Open Sans"/>
                <a:cs typeface="Open Sans"/>
                <a:sym typeface="Open Sans"/>
              </a:rPr>
              <a:t>Deployed secure authentication using industry-standard practices</a:t>
            </a:r>
          </a:p>
          <a:p>
            <a:pPr algn="l" marL="292199" indent="-146100" lvl="1">
              <a:lnSpc>
                <a:spcPts val="3125"/>
              </a:lnSpc>
              <a:buFont typeface="Arial"/>
              <a:buChar char="•"/>
            </a:pPr>
            <a:r>
              <a:rPr lang="en-US" sz="1937">
                <a:solidFill>
                  <a:srgbClr val="443728"/>
                </a:solidFill>
                <a:latin typeface="Open Sans"/>
                <a:ea typeface="Open Sans"/>
                <a:cs typeface="Open Sans"/>
                <a:sym typeface="Open Sans"/>
              </a:rPr>
              <a:t>Built scalable modular backend with clear separation of concerns</a:t>
            </a:r>
          </a:p>
        </p:txBody>
      </p:sp>
      <p:sp>
        <p:nvSpPr>
          <p:cNvPr name="TextBox 11" id="11"/>
          <p:cNvSpPr txBox="true"/>
          <p:nvPr/>
        </p:nvSpPr>
        <p:spPr>
          <a:xfrm rot="0">
            <a:off x="7850238" y="6569421"/>
            <a:ext cx="3101130" cy="397221"/>
          </a:xfrm>
          <a:prstGeom prst="rect">
            <a:avLst/>
          </a:prstGeom>
        </p:spPr>
        <p:txBody>
          <a:bodyPr anchor="t" rtlCol="false" tIns="0" lIns="0" bIns="0" rIns="0">
            <a:spAutoFit/>
          </a:bodyPr>
          <a:lstStyle/>
          <a:p>
            <a:pPr algn="l">
              <a:lnSpc>
                <a:spcPts val="2999"/>
              </a:lnSpc>
            </a:pPr>
            <a:r>
              <a:rPr lang="en-US" sz="2437" b="true">
                <a:solidFill>
                  <a:srgbClr val="443728"/>
                </a:solidFill>
                <a:latin typeface="Crimson Pro Bold"/>
                <a:ea typeface="Crimson Pro Bold"/>
                <a:cs typeface="Crimson Pro Bold"/>
                <a:sym typeface="Crimson Pro Bold"/>
              </a:rPr>
              <a:t>Learning Outcomes</a:t>
            </a:r>
          </a:p>
        </p:txBody>
      </p:sp>
      <p:sp>
        <p:nvSpPr>
          <p:cNvPr name="TextBox 12" id="12"/>
          <p:cNvSpPr txBox="true"/>
          <p:nvPr/>
        </p:nvSpPr>
        <p:spPr>
          <a:xfrm rot="0">
            <a:off x="7850238" y="7128872"/>
            <a:ext cx="4922634" cy="2070344"/>
          </a:xfrm>
          <a:prstGeom prst="rect">
            <a:avLst/>
          </a:prstGeom>
        </p:spPr>
        <p:txBody>
          <a:bodyPr anchor="t" rtlCol="false" tIns="0" lIns="0" bIns="0" rIns="0">
            <a:spAutoFit/>
          </a:bodyPr>
          <a:lstStyle/>
          <a:p>
            <a:pPr algn="l">
              <a:lnSpc>
                <a:spcPts val="3125"/>
              </a:lnSpc>
            </a:pPr>
            <a:r>
              <a:rPr lang="en-US" sz="1937">
                <a:solidFill>
                  <a:srgbClr val="443728"/>
                </a:solidFill>
                <a:latin typeface="Open Sans"/>
                <a:ea typeface="Open Sans"/>
                <a:cs typeface="Open Sans"/>
                <a:sym typeface="Open Sans"/>
              </a:rPr>
              <a:t>Gained practical experience in asynchronous programming, WebSocket protocol implementation, JWT-based security, and full-stack application development with modern frameworks.</a:t>
            </a:r>
          </a:p>
        </p:txBody>
      </p:sp>
      <p:grpSp>
        <p:nvGrpSpPr>
          <p:cNvPr name="Group 13" id="13"/>
          <p:cNvGrpSpPr/>
          <p:nvPr/>
        </p:nvGrpSpPr>
        <p:grpSpPr>
          <a:xfrm rot="0">
            <a:off x="13208946" y="2011709"/>
            <a:ext cx="4274791" cy="7410745"/>
            <a:chOff x="0" y="0"/>
            <a:chExt cx="5699722" cy="9880994"/>
          </a:xfrm>
        </p:grpSpPr>
        <p:sp>
          <p:nvSpPr>
            <p:cNvPr name="Freeform 14" id="14"/>
            <p:cNvSpPr/>
            <p:nvPr/>
          </p:nvSpPr>
          <p:spPr>
            <a:xfrm flipH="false" flipV="false" rot="0">
              <a:off x="0" y="0"/>
              <a:ext cx="5699760" cy="9881108"/>
            </a:xfrm>
            <a:custGeom>
              <a:avLst/>
              <a:gdLst/>
              <a:ahLst/>
              <a:cxnLst/>
              <a:rect r="r" b="b" t="t" l="l"/>
              <a:pathLst>
                <a:path h="9881108" w="5699760">
                  <a:moveTo>
                    <a:pt x="0" y="238252"/>
                  </a:moveTo>
                  <a:cubicBezTo>
                    <a:pt x="0" y="106680"/>
                    <a:pt x="106680" y="0"/>
                    <a:pt x="238252" y="0"/>
                  </a:cubicBezTo>
                  <a:lnTo>
                    <a:pt x="5461508" y="0"/>
                  </a:lnTo>
                  <a:cubicBezTo>
                    <a:pt x="5593080" y="0"/>
                    <a:pt x="5699760" y="106680"/>
                    <a:pt x="5699760" y="238252"/>
                  </a:cubicBezTo>
                  <a:lnTo>
                    <a:pt x="5699760" y="9642856"/>
                  </a:lnTo>
                  <a:cubicBezTo>
                    <a:pt x="5699760" y="9774428"/>
                    <a:pt x="5593080" y="9881108"/>
                    <a:pt x="5461508" y="9881108"/>
                  </a:cubicBezTo>
                  <a:lnTo>
                    <a:pt x="238252" y="9881108"/>
                  </a:lnTo>
                  <a:cubicBezTo>
                    <a:pt x="106680" y="9880981"/>
                    <a:pt x="0" y="9774301"/>
                    <a:pt x="0" y="9642856"/>
                  </a:cubicBezTo>
                  <a:close/>
                </a:path>
              </a:pathLst>
            </a:custGeom>
            <a:solidFill>
              <a:srgbClr val="835E54"/>
            </a:solidFill>
          </p:spPr>
        </p:sp>
      </p:grpSp>
      <p:sp>
        <p:nvSpPr>
          <p:cNvPr name="TextBox 15" id="15"/>
          <p:cNvSpPr txBox="true"/>
          <p:nvPr/>
        </p:nvSpPr>
        <p:spPr>
          <a:xfrm rot="0">
            <a:off x="13456891" y="2250129"/>
            <a:ext cx="3101130" cy="397221"/>
          </a:xfrm>
          <a:prstGeom prst="rect">
            <a:avLst/>
          </a:prstGeom>
        </p:spPr>
        <p:txBody>
          <a:bodyPr anchor="t" rtlCol="false" tIns="0" lIns="0" bIns="0" rIns="0">
            <a:spAutoFit/>
          </a:bodyPr>
          <a:lstStyle/>
          <a:p>
            <a:pPr algn="l">
              <a:lnSpc>
                <a:spcPts val="2999"/>
              </a:lnSpc>
            </a:pPr>
            <a:r>
              <a:rPr lang="en-US" sz="2437" b="true">
                <a:solidFill>
                  <a:srgbClr val="FFFFFF"/>
                </a:solidFill>
                <a:latin typeface="Crimson Pro Bold"/>
                <a:ea typeface="Crimson Pro Bold"/>
                <a:cs typeface="Crimson Pro Bold"/>
                <a:sym typeface="Crimson Pro Bold"/>
              </a:rPr>
              <a:t>Future Enhancements</a:t>
            </a:r>
          </a:p>
        </p:txBody>
      </p:sp>
      <p:sp>
        <p:nvSpPr>
          <p:cNvPr name="TextBox 16" id="16"/>
          <p:cNvSpPr txBox="true"/>
          <p:nvPr/>
        </p:nvSpPr>
        <p:spPr>
          <a:xfrm rot="0">
            <a:off x="13456891" y="2809580"/>
            <a:ext cx="3778891" cy="3918347"/>
          </a:xfrm>
          <a:prstGeom prst="rect">
            <a:avLst/>
          </a:prstGeom>
        </p:spPr>
        <p:txBody>
          <a:bodyPr anchor="t" rtlCol="false" tIns="0" lIns="0" bIns="0" rIns="0">
            <a:spAutoFit/>
          </a:bodyPr>
          <a:lstStyle/>
          <a:p>
            <a:pPr algn="l" marL="292199" indent="-146100" lvl="1">
              <a:lnSpc>
                <a:spcPts val="3125"/>
              </a:lnSpc>
              <a:buFont typeface="Arial"/>
              <a:buChar char="•"/>
            </a:pPr>
            <a:r>
              <a:rPr lang="en-US" sz="1937">
                <a:solidFill>
                  <a:srgbClr val="FFFFFF"/>
                </a:solidFill>
                <a:latin typeface="Open Sans"/>
                <a:ea typeface="Open Sans"/>
                <a:cs typeface="Open Sans"/>
                <a:sym typeface="Open Sans"/>
              </a:rPr>
              <a:t>Migrate to PostgreSQL for production scalability</a:t>
            </a:r>
          </a:p>
          <a:p>
            <a:pPr algn="l" marL="292199" indent="-146100" lvl="1">
              <a:lnSpc>
                <a:spcPts val="3125"/>
              </a:lnSpc>
              <a:buFont typeface="Arial"/>
              <a:buChar char="•"/>
            </a:pPr>
            <a:r>
              <a:rPr lang="en-US" sz="1937">
                <a:solidFill>
                  <a:srgbClr val="FFFFFF"/>
                </a:solidFill>
                <a:latin typeface="Open Sans"/>
                <a:ea typeface="Open Sans"/>
                <a:cs typeface="Open Sans"/>
                <a:sym typeface="Open Sans"/>
              </a:rPr>
              <a:t>Implement Redis for distributed WebSocket sessions</a:t>
            </a:r>
          </a:p>
          <a:p>
            <a:pPr algn="l" marL="292199" indent="-146100" lvl="1">
              <a:lnSpc>
                <a:spcPts val="3125"/>
              </a:lnSpc>
              <a:buFont typeface="Arial"/>
              <a:buChar char="•"/>
            </a:pPr>
            <a:r>
              <a:rPr lang="en-US" sz="1937">
                <a:solidFill>
                  <a:srgbClr val="FFFFFF"/>
                </a:solidFill>
                <a:latin typeface="Open Sans"/>
                <a:ea typeface="Open Sans"/>
                <a:cs typeface="Open Sans"/>
                <a:sym typeface="Open Sans"/>
              </a:rPr>
              <a:t>Add WebSocket authentication layer</a:t>
            </a:r>
          </a:p>
          <a:p>
            <a:pPr algn="l" marL="292199" indent="-146100" lvl="1">
              <a:lnSpc>
                <a:spcPts val="3125"/>
              </a:lnSpc>
              <a:buFont typeface="Arial"/>
              <a:buChar char="•"/>
            </a:pPr>
            <a:r>
              <a:rPr lang="en-US" sz="1937">
                <a:solidFill>
                  <a:srgbClr val="FFFFFF"/>
                </a:solidFill>
                <a:latin typeface="Open Sans"/>
                <a:ea typeface="Open Sans"/>
                <a:cs typeface="Open Sans"/>
                <a:sym typeface="Open Sans"/>
              </a:rPr>
              <a:t>Containerise with Docker for deployment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DAHBvhMN4YM</dc:identifier>
  <dcterms:modified xsi:type="dcterms:W3CDTF">2011-08-01T06:04:30Z</dcterms:modified>
  <cp:revision>1</cp:revision>
  <dc:title>Real-Time-Chat-Application-using-FastAPI-and-WebSockets.pptx</dc:title>
</cp:coreProperties>
</file>